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6" r:id="rId9"/>
    <p:sldId id="262" r:id="rId10"/>
    <p:sldId id="263" r:id="rId11"/>
    <p:sldId id="264" r:id="rId12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D4F5"/>
    <a:srgbClr val="B9C8EF"/>
    <a:srgbClr val="C4D1F2"/>
    <a:srgbClr val="E1E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8FBA66-70CF-4914-AC79-2FB45137E939}" v="9" dt="2024-05-29T06:55:49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95" autoAdjust="0"/>
  </p:normalViewPr>
  <p:slideViewPr>
    <p:cSldViewPr>
      <p:cViewPr varScale="1">
        <p:scale>
          <a:sx n="50" d="100"/>
          <a:sy n="50" d="100"/>
        </p:scale>
        <p:origin x="4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지민 서" userId="2013b01ca512343f" providerId="LiveId" clId="{0D8FBA66-70CF-4914-AC79-2FB45137E939}"/>
    <pc:docChg chg="custSel modSld">
      <pc:chgData name="지민 서" userId="2013b01ca512343f" providerId="LiveId" clId="{0D8FBA66-70CF-4914-AC79-2FB45137E939}" dt="2024-05-29T06:56:52.375" v="779" actId="1037"/>
      <pc:docMkLst>
        <pc:docMk/>
      </pc:docMkLst>
      <pc:sldChg chg="addSp delSp modSp mod">
        <pc:chgData name="지민 서" userId="2013b01ca512343f" providerId="LiveId" clId="{0D8FBA66-70CF-4914-AC79-2FB45137E939}" dt="2024-05-29T06:56:52.375" v="779" actId="1037"/>
        <pc:sldMkLst>
          <pc:docMk/>
          <pc:sldMk cId="0" sldId="261"/>
        </pc:sldMkLst>
        <pc:spChg chg="add del mod">
          <ac:chgData name="지민 서" userId="2013b01ca512343f" providerId="LiveId" clId="{0D8FBA66-70CF-4914-AC79-2FB45137E939}" dt="2024-05-29T06:49:49.379" v="56" actId="478"/>
          <ac:spMkLst>
            <pc:docMk/>
            <pc:sldMk cId="0" sldId="261"/>
            <ac:spMk id="8" creationId="{A1464EB3-5156-2D91-36DB-1125BACE9C07}"/>
          </ac:spMkLst>
        </pc:spChg>
        <pc:spChg chg="add mod">
          <ac:chgData name="지민 서" userId="2013b01ca512343f" providerId="LiveId" clId="{0D8FBA66-70CF-4914-AC79-2FB45137E939}" dt="2024-05-29T06:52:29.428" v="452" actId="1076"/>
          <ac:spMkLst>
            <pc:docMk/>
            <pc:sldMk cId="0" sldId="261"/>
            <ac:spMk id="11" creationId="{0908AE77-FDF8-6BA8-D5E8-51B35289B059}"/>
          </ac:spMkLst>
        </pc:spChg>
        <pc:spChg chg="add mod">
          <ac:chgData name="지민 서" userId="2013b01ca512343f" providerId="LiveId" clId="{0D8FBA66-70CF-4914-AC79-2FB45137E939}" dt="2024-05-29T06:56:48.784" v="776" actId="1036"/>
          <ac:spMkLst>
            <pc:docMk/>
            <pc:sldMk cId="0" sldId="261"/>
            <ac:spMk id="12" creationId="{C7A3A8C9-757E-AA10-0300-5A78BC4D3FC7}"/>
          </ac:spMkLst>
        </pc:spChg>
        <pc:spChg chg="del mod">
          <ac:chgData name="지민 서" userId="2013b01ca512343f" providerId="LiveId" clId="{0D8FBA66-70CF-4914-AC79-2FB45137E939}" dt="2024-05-29T06:48:18.129" v="3"/>
          <ac:spMkLst>
            <pc:docMk/>
            <pc:sldMk cId="0" sldId="261"/>
            <ac:spMk id="16" creationId="{00000000-0000-0000-0000-000000000000}"/>
          </ac:spMkLst>
        </pc:spChg>
        <pc:spChg chg="add mod">
          <ac:chgData name="지민 서" userId="2013b01ca512343f" providerId="LiveId" clId="{0D8FBA66-70CF-4914-AC79-2FB45137E939}" dt="2024-05-29T06:56:39.951" v="766" actId="1036"/>
          <ac:spMkLst>
            <pc:docMk/>
            <pc:sldMk cId="0" sldId="261"/>
            <ac:spMk id="24" creationId="{F5E40F36-A23C-5578-61FA-71FFDECEB505}"/>
          </ac:spMkLst>
        </pc:spChg>
        <pc:spChg chg="add mod">
          <ac:chgData name="지민 서" userId="2013b01ca512343f" providerId="LiveId" clId="{0D8FBA66-70CF-4914-AC79-2FB45137E939}" dt="2024-05-29T06:56:36.554" v="764" actId="1036"/>
          <ac:spMkLst>
            <pc:docMk/>
            <pc:sldMk cId="0" sldId="261"/>
            <ac:spMk id="25" creationId="{EFBBC58E-2031-4E5C-9D18-461513673D0F}"/>
          </ac:spMkLst>
        </pc:spChg>
        <pc:spChg chg="add del mod">
          <ac:chgData name="지민 서" userId="2013b01ca512343f" providerId="LiveId" clId="{0D8FBA66-70CF-4914-AC79-2FB45137E939}" dt="2024-05-29T06:56:08.567" v="754" actId="478"/>
          <ac:spMkLst>
            <pc:docMk/>
            <pc:sldMk cId="0" sldId="261"/>
            <ac:spMk id="28" creationId="{DEAD6675-E422-6206-2EE9-B6D1307F6596}"/>
          </ac:spMkLst>
        </pc:spChg>
        <pc:picChg chg="add mod">
          <ac:chgData name="지민 서" userId="2013b01ca512343f" providerId="LiveId" clId="{0D8FBA66-70CF-4914-AC79-2FB45137E939}" dt="2024-05-29T06:49:03.367" v="8" actId="1076"/>
          <ac:picMkLst>
            <pc:docMk/>
            <pc:sldMk cId="0" sldId="261"/>
            <ac:picMk id="4" creationId="{11C8BA8D-1A15-3E23-8FDE-38D7C14E62B3}"/>
          </ac:picMkLst>
        </pc:picChg>
        <pc:picChg chg="del">
          <ac:chgData name="지민 서" userId="2013b01ca512343f" providerId="LiveId" clId="{0D8FBA66-70CF-4914-AC79-2FB45137E939}" dt="2024-05-29T06:48:18.126" v="1" actId="478"/>
          <ac:picMkLst>
            <pc:docMk/>
            <pc:sldMk cId="0" sldId="261"/>
            <ac:picMk id="5" creationId="{E3F587B6-C17B-8C54-135C-319505B348E9}"/>
          </ac:picMkLst>
        </pc:picChg>
        <pc:picChg chg="add mod">
          <ac:chgData name="지민 서" userId="2013b01ca512343f" providerId="LiveId" clId="{0D8FBA66-70CF-4914-AC79-2FB45137E939}" dt="2024-05-29T06:50:12.305" v="58" actId="1076"/>
          <ac:picMkLst>
            <pc:docMk/>
            <pc:sldMk cId="0" sldId="261"/>
            <ac:picMk id="10" creationId="{BE3B4923-0152-636D-1B8C-E390C6A646E6}"/>
          </ac:picMkLst>
        </pc:picChg>
        <pc:picChg chg="add mod">
          <ac:chgData name="지민 서" userId="2013b01ca512343f" providerId="LiveId" clId="{0D8FBA66-70CF-4914-AC79-2FB45137E939}" dt="2024-05-29T06:56:52.375" v="779" actId="1037"/>
          <ac:picMkLst>
            <pc:docMk/>
            <pc:sldMk cId="0" sldId="261"/>
            <ac:picMk id="17" creationId="{DD1CA184-1F93-D607-0704-FE7529C46651}"/>
          </ac:picMkLst>
        </pc:picChg>
        <pc:picChg chg="add mod">
          <ac:chgData name="지민 서" userId="2013b01ca512343f" providerId="LiveId" clId="{0D8FBA66-70CF-4914-AC79-2FB45137E939}" dt="2024-05-29T06:56:42.411" v="769" actId="1036"/>
          <ac:picMkLst>
            <pc:docMk/>
            <pc:sldMk cId="0" sldId="261"/>
            <ac:picMk id="23" creationId="{47445688-2FDD-6F10-24E8-8B0350C63824}"/>
          </ac:picMkLst>
        </pc:picChg>
        <pc:picChg chg="add del mod">
          <ac:chgData name="지민 서" userId="2013b01ca512343f" providerId="LiveId" clId="{0D8FBA66-70CF-4914-AC79-2FB45137E939}" dt="2024-05-29T06:56:09.420" v="755" actId="478"/>
          <ac:picMkLst>
            <pc:docMk/>
            <pc:sldMk cId="0" sldId="261"/>
            <ac:picMk id="27" creationId="{C87603DF-5C38-09E3-0B13-FE8ACBA199F5}"/>
          </ac:picMkLst>
        </pc:picChg>
        <pc:cxnChg chg="add mod">
          <ac:chgData name="지민 서" userId="2013b01ca512343f" providerId="LiveId" clId="{0D8FBA66-70CF-4914-AC79-2FB45137E939}" dt="2024-05-29T06:52:51.211" v="457" actId="14100"/>
          <ac:cxnSpMkLst>
            <pc:docMk/>
            <pc:sldMk cId="0" sldId="261"/>
            <ac:cxnSpMk id="19" creationId="{5C8FE9E0-59B8-6E3F-6BBD-BEA576F2D90A}"/>
          </ac:cxnSpMkLst>
        </pc:cxnChg>
        <pc:cxnChg chg="add mod">
          <ac:chgData name="지민 서" userId="2013b01ca512343f" providerId="LiveId" clId="{0D8FBA66-70CF-4914-AC79-2FB45137E939}" dt="2024-05-29T06:56:45.649" v="774" actId="1035"/>
          <ac:cxnSpMkLst>
            <pc:docMk/>
            <pc:sldMk cId="0" sldId="261"/>
            <ac:cxnSpMk id="21" creationId="{C6867BD4-FBD9-8067-CD66-BABC62C0622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12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4.png"/><Relationship Id="rId7" Type="http://schemas.openxmlformats.org/officeDocument/2006/relationships/image" Target="../media/image3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2.png"/><Relationship Id="rId9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image" Target="../media/image5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image" Target="../media/image12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12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6909503" y="-5355926"/>
            <a:ext cx="34483360" cy="32890549"/>
            <a:chOff x="-6909503" y="-5355926"/>
            <a:chExt cx="34483360" cy="32890549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-3027510" y="6510474"/>
              <a:ext cx="10457559" cy="8866033"/>
              <a:chOff x="-3027510" y="6510474"/>
              <a:chExt cx="10457559" cy="8866033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 rot="5400000">
                <a:off x="-8256290" y="2895860"/>
                <a:ext cx="20915118" cy="17732066"/>
              </a:xfrm>
              <a:prstGeom prst="rect">
                <a:avLst/>
              </a:prstGeom>
            </p:spPr>
          </p:pic>
          <p:pic>
            <p:nvPicPr>
              <p:cNvPr id="5" name="Object 4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 rot="5400000">
                <a:off x="-3027510" y="6510474"/>
                <a:ext cx="10457559" cy="8866033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-6909503" y="-5355926"/>
              <a:ext cx="34483360" cy="32890549"/>
              <a:chOff x="-6909503" y="-5355926"/>
              <a:chExt cx="34483360" cy="32890549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16200000">
                <a:off x="-6113098" y="-6152331"/>
                <a:ext cx="32890549" cy="34483360"/>
              </a:xfrm>
              <a:prstGeom prst="rect">
                <a:avLst/>
              </a:prstGeom>
            </p:spPr>
          </p:pic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 rot="-5400000">
                <a:off x="2109539" y="1709497"/>
                <a:ext cx="16445274" cy="17241680"/>
              </a:xfrm>
              <a:prstGeom prst="rect">
                <a:avLst/>
              </a:prstGeom>
            </p:spPr>
          </p:pic>
        </p:grpSp>
      </p:grpSp>
      <p:grpSp>
        <p:nvGrpSpPr>
          <p:cNvPr id="1004" name="그룹 1004"/>
          <p:cNvGrpSpPr/>
          <p:nvPr/>
        </p:nvGrpSpPr>
        <p:grpSpPr>
          <a:xfrm>
            <a:off x="-19048" y="4989"/>
            <a:ext cx="18315193" cy="190476"/>
            <a:chOff x="-19048" y="4989"/>
            <a:chExt cx="18315193" cy="190476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9048" y="4989"/>
              <a:ext cx="18315193" cy="19047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8102075" y="8720000"/>
            <a:ext cx="183639" cy="946018"/>
            <a:chOff x="18102075" y="8720000"/>
            <a:chExt cx="183639" cy="946018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102075" y="8720000"/>
              <a:ext cx="183639" cy="94601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796784" y="2073096"/>
            <a:ext cx="22175485" cy="160043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9800" kern="0" spc="-4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IoT </a:t>
            </a:r>
            <a:r>
              <a:rPr lang="ko-KR" altLang="en-US" sz="9800" kern="0" spc="-400" dirty="0" err="1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텀</a:t>
            </a:r>
            <a:r>
              <a:rPr lang="en-US" sz="9800" kern="0" spc="-4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 프로젝트 제안서</a:t>
            </a:r>
            <a:endParaRPr lang="en-US" dirty="0"/>
          </a:p>
        </p:txBody>
      </p:sp>
      <p:sp>
        <p:nvSpPr>
          <p:cNvPr id="19" name="Object 19"/>
          <p:cNvSpPr txBox="1"/>
          <p:nvPr/>
        </p:nvSpPr>
        <p:spPr>
          <a:xfrm>
            <a:off x="6529375" y="9745455"/>
            <a:ext cx="11572701" cy="4205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600" dirty="0">
                <a:solidFill>
                  <a:srgbClr val="173460"/>
                </a:solidFill>
                <a:latin typeface="Pretendard ExtraLight" pitchFamily="34" charset="0"/>
                <a:cs typeface="Pretendard ExtraLight" pitchFamily="34" charset="0"/>
              </a:rPr>
              <a:t>해당 ppt 디자인은 미리캔버스를 참고했습니다.</a:t>
            </a:r>
            <a:endParaRPr lang="en-US" dirty="0"/>
          </a:p>
        </p:txBody>
      </p:sp>
      <p:sp>
        <p:nvSpPr>
          <p:cNvPr id="20" name="Object 20"/>
          <p:cNvSpPr txBox="1"/>
          <p:nvPr/>
        </p:nvSpPr>
        <p:spPr>
          <a:xfrm>
            <a:off x="13127296" y="424552"/>
            <a:ext cx="4539370" cy="5333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000" dirty="0">
                <a:solidFill>
                  <a:srgbClr val="173460"/>
                </a:solidFill>
                <a:latin typeface="Pretendard SemiBold" pitchFamily="34" charset="0"/>
                <a:cs typeface="Pretendard SemiBold" pitchFamily="34" charset="0"/>
              </a:rPr>
              <a:t>2024-05-08</a:t>
            </a:r>
            <a:endParaRPr lang="en-US" dirty="0"/>
          </a:p>
        </p:txBody>
      </p:sp>
      <p:sp>
        <p:nvSpPr>
          <p:cNvPr id="21" name="Object 21"/>
          <p:cNvSpPr txBox="1"/>
          <p:nvPr/>
        </p:nvSpPr>
        <p:spPr>
          <a:xfrm rot="-5400000">
            <a:off x="-524572" y="1652029"/>
            <a:ext cx="2353990" cy="4323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600" dirty="0">
                <a:solidFill>
                  <a:srgbClr val="173460"/>
                </a:solidFill>
                <a:latin typeface="Pretendard" pitchFamily="34" charset="0"/>
                <a:cs typeface="Pretendard" pitchFamily="34" charset="0"/>
              </a:rPr>
              <a:t>PRESENTATION</a:t>
            </a:r>
            <a:endParaRPr lang="en-US" dirty="0"/>
          </a:p>
        </p:txBody>
      </p:sp>
      <p:sp>
        <p:nvSpPr>
          <p:cNvPr id="22" name="Object 22"/>
          <p:cNvSpPr txBox="1"/>
          <p:nvPr/>
        </p:nvSpPr>
        <p:spPr>
          <a:xfrm>
            <a:off x="1711337" y="3091532"/>
            <a:ext cx="16261145" cy="260857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9800" dirty="0">
                <a:solidFill>
                  <a:srgbClr val="173460"/>
                </a:solidFill>
                <a:latin typeface="Pretendard" pitchFamily="34" charset="0"/>
                <a:cs typeface="Pretendard" pitchFamily="34" charset="0"/>
              </a:rPr>
              <a:t>프레젠테이션</a:t>
            </a:r>
            <a:endParaRPr lang="en-US" dirty="0"/>
          </a:p>
        </p:txBody>
      </p:sp>
      <p:sp>
        <p:nvSpPr>
          <p:cNvPr id="23" name="Object 23"/>
          <p:cNvSpPr txBox="1"/>
          <p:nvPr/>
        </p:nvSpPr>
        <p:spPr>
          <a:xfrm>
            <a:off x="1730384" y="5461597"/>
            <a:ext cx="10299768" cy="60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dirty="0">
                <a:solidFill>
                  <a:srgbClr val="173460"/>
                </a:solidFill>
                <a:latin typeface="Pretendard" pitchFamily="34" charset="0"/>
                <a:cs typeface="Pretendard" pitchFamily="34" charset="0"/>
              </a:rPr>
              <a:t>COOPERATION PROJECT WORK REPORT</a:t>
            </a:r>
            <a:endParaRPr lang="en-US" dirty="0"/>
          </a:p>
        </p:txBody>
      </p:sp>
      <p:sp>
        <p:nvSpPr>
          <p:cNvPr id="24" name="Object 24"/>
          <p:cNvSpPr txBox="1"/>
          <p:nvPr/>
        </p:nvSpPr>
        <p:spPr>
          <a:xfrm>
            <a:off x="1718705" y="6551178"/>
            <a:ext cx="11408591" cy="4462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dirty="0" err="1">
                <a:solidFill>
                  <a:srgbClr val="BDC7E1"/>
                </a:solidFill>
                <a:latin typeface="Abadi" panose="020F0502020204030204" pitchFamily="34" charset="0"/>
                <a:cs typeface="Pretendard Light" pitchFamily="34" charset="0"/>
              </a:rPr>
              <a:t>프로젝트</a:t>
            </a:r>
            <a:r>
              <a:rPr lang="en-US" sz="2300" dirty="0">
                <a:solidFill>
                  <a:srgbClr val="BDC7E1"/>
                </a:solidFill>
                <a:latin typeface="Abadi" panose="020F0502020204030204" pitchFamily="34" charset="0"/>
                <a:cs typeface="Pretendard Light" pitchFamily="34" charset="0"/>
              </a:rPr>
              <a:t> </a:t>
            </a:r>
            <a:r>
              <a:rPr lang="en-US" sz="2300" dirty="0" err="1">
                <a:solidFill>
                  <a:srgbClr val="BDC7E1"/>
                </a:solidFill>
                <a:latin typeface="Abadi" panose="020F0502020204030204" pitchFamily="34" charset="0"/>
                <a:cs typeface="Pretendard Light" pitchFamily="34" charset="0"/>
              </a:rPr>
              <a:t>이름</a:t>
            </a:r>
            <a:r>
              <a:rPr lang="en-US" sz="2300" dirty="0">
                <a:solidFill>
                  <a:srgbClr val="BDC7E1"/>
                </a:solidFill>
                <a:latin typeface="Abadi" panose="020F0502020204030204" pitchFamily="34" charset="0"/>
                <a:cs typeface="Pretendard Light" pitchFamily="34" charset="0"/>
              </a:rPr>
              <a:t> - </a:t>
            </a:r>
            <a:r>
              <a:rPr lang="ko-KR" altLang="en-US" sz="2300" dirty="0">
                <a:solidFill>
                  <a:srgbClr val="BDC7E1"/>
                </a:solidFill>
                <a:latin typeface="Abadi" panose="020F0502020204030204" pitchFamily="34" charset="0"/>
                <a:cs typeface="Pretendard Light" pitchFamily="34" charset="0"/>
              </a:rPr>
              <a:t>날씨에 따라 옷차림을 알려주는 </a:t>
            </a:r>
            <a:r>
              <a:rPr lang="en-US" altLang="ko-KR" sz="2300" dirty="0" err="1">
                <a:solidFill>
                  <a:srgbClr val="BDC7E1"/>
                </a:solidFill>
                <a:latin typeface="Abadi" panose="020F0502020204030204" pitchFamily="34" charset="0"/>
                <a:cs typeface="Pretendard Light" pitchFamily="34" charset="0"/>
              </a:rPr>
              <a:t>iot</a:t>
            </a:r>
            <a:r>
              <a:rPr lang="en-US" altLang="ko-KR" sz="2300" dirty="0">
                <a:solidFill>
                  <a:srgbClr val="BDC7E1"/>
                </a:solidFill>
                <a:latin typeface="Abadi" panose="020F0502020204030204" pitchFamily="34" charset="0"/>
                <a:cs typeface="Pretendard Light" pitchFamily="34" charset="0"/>
              </a:rPr>
              <a:t> </a:t>
            </a:r>
            <a:r>
              <a:rPr lang="ko-KR" altLang="en-US" sz="2300" dirty="0">
                <a:solidFill>
                  <a:srgbClr val="BDC7E1"/>
                </a:solidFill>
                <a:latin typeface="Abadi" panose="020F0502020204030204" pitchFamily="34" charset="0"/>
                <a:cs typeface="Pretendard Light" pitchFamily="34" charset="0"/>
              </a:rPr>
              <a:t>스마트 창문 제어 </a:t>
            </a:r>
            <a:r>
              <a:rPr lang="ko-KR" altLang="en-US" sz="2300" dirty="0" err="1">
                <a:solidFill>
                  <a:srgbClr val="BDC7E1"/>
                </a:solidFill>
                <a:latin typeface="Abadi" panose="020F0502020204030204" pitchFamily="34" charset="0"/>
                <a:cs typeface="Pretendard Light" pitchFamily="34" charset="0"/>
              </a:rPr>
              <a:t>알리미</a:t>
            </a:r>
            <a:r>
              <a:rPr lang="en-US" sz="2300" dirty="0">
                <a:solidFill>
                  <a:srgbClr val="BDC7E1"/>
                </a:solidFill>
                <a:latin typeface="Abadi" panose="020F0502020204030204" pitchFamily="34" charset="0"/>
                <a:cs typeface="Pretendard Light" pitchFamily="34" charset="0"/>
              </a:rPr>
              <a:t> </a:t>
            </a:r>
            <a:endParaRPr lang="en-US" dirty="0"/>
          </a:p>
        </p:txBody>
      </p:sp>
      <p:sp>
        <p:nvSpPr>
          <p:cNvPr id="26" name="Object 26"/>
          <p:cNvSpPr txBox="1"/>
          <p:nvPr/>
        </p:nvSpPr>
        <p:spPr>
          <a:xfrm>
            <a:off x="1711335" y="7118556"/>
            <a:ext cx="9306485" cy="4462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dirty="0">
                <a:solidFill>
                  <a:srgbClr val="BDC7E1"/>
                </a:solidFill>
                <a:latin typeface="Abadi" panose="020F0502020204030204" pitchFamily="34" charset="0"/>
                <a:cs typeface="Pretendard Light" pitchFamily="34" charset="0"/>
              </a:rPr>
              <a:t>인하공업전문대학 컴퓨터시스템과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475926" y="7441936"/>
            <a:ext cx="8065036" cy="7149418"/>
            <a:chOff x="-475926" y="7441936"/>
            <a:chExt cx="8065036" cy="714941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5400000">
              <a:off x="-4508444" y="4527173"/>
              <a:ext cx="16130071" cy="14298835"/>
            </a:xfrm>
            <a:prstGeom prst="rect">
              <a:avLst/>
            </a:prstGeom>
          </p:spPr>
        </p:pic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5400000">
              <a:off x="-475926" y="7441936"/>
              <a:ext cx="8065036" cy="714941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879051" y="-1437384"/>
            <a:ext cx="17339317" cy="18080898"/>
            <a:chOff x="879051" y="-1437384"/>
            <a:chExt cx="17339317" cy="18080898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15060000">
              <a:off x="-7790607" y="-9677557"/>
              <a:ext cx="34678634" cy="36161797"/>
            </a:xfrm>
            <a:prstGeom prst="rect">
              <a:avLst/>
            </a:prstGeom>
          </p:spPr>
        </p:pic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15060000">
              <a:off x="879051" y="-1437384"/>
              <a:ext cx="17339317" cy="1808089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19048" y="4989"/>
            <a:ext cx="18315193" cy="190476"/>
            <a:chOff x="-19048" y="4989"/>
            <a:chExt cx="18315193" cy="190476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9048" y="4989"/>
              <a:ext cx="18315193" cy="19047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6839456" y="194739"/>
            <a:ext cx="11455782" cy="10104308"/>
            <a:chOff x="6839456" y="194739"/>
            <a:chExt cx="11455782" cy="10104308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39456" y="194739"/>
              <a:ext cx="11455782" cy="10104308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8151709" y="9801545"/>
            <a:ext cx="142857" cy="479351"/>
            <a:chOff x="18151709" y="9801545"/>
            <a:chExt cx="142857" cy="479351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151709" y="9801545"/>
              <a:ext cx="142857" cy="47935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397051" y="794898"/>
            <a:ext cx="8149322" cy="212857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8000" kern="0" spc="-100" dirty="0">
                <a:solidFill>
                  <a:srgbClr val="173460"/>
                </a:solidFill>
                <a:latin typeface="Pretendard" pitchFamily="34" charset="0"/>
                <a:cs typeface="Pretendard" pitchFamily="34" charset="0"/>
              </a:rPr>
              <a:t>목차</a:t>
            </a:r>
            <a:endParaRPr lang="en-US" dirty="0"/>
          </a:p>
        </p:txBody>
      </p:sp>
      <p:sp>
        <p:nvSpPr>
          <p:cNvPr id="20" name="Object 20"/>
          <p:cNvSpPr txBox="1"/>
          <p:nvPr/>
        </p:nvSpPr>
        <p:spPr>
          <a:xfrm>
            <a:off x="16185941" y="9660839"/>
            <a:ext cx="1809524" cy="4828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800" dirty="0">
                <a:solidFill>
                  <a:srgbClr val="173460"/>
                </a:solidFill>
                <a:latin typeface="Pretendard SemiBold" pitchFamily="34" charset="0"/>
                <a:cs typeface="Pretendard SemiBold" pitchFamily="34" charset="0"/>
              </a:rPr>
              <a:t>02</a:t>
            </a:r>
            <a:endParaRPr lang="en-US" dirty="0"/>
          </a:p>
        </p:txBody>
      </p:sp>
      <p:sp>
        <p:nvSpPr>
          <p:cNvPr id="21" name="Object 21"/>
          <p:cNvSpPr txBox="1"/>
          <p:nvPr/>
        </p:nvSpPr>
        <p:spPr>
          <a:xfrm>
            <a:off x="9824122" y="1848403"/>
            <a:ext cx="1073587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프로젝트의 참여연구원과 간략한 내용 및 해당 제품에 대한 필요성과 기대효과를 설명한다.</a:t>
            </a:r>
            <a:endParaRPr lang="en-US" dirty="0"/>
          </a:p>
        </p:txBody>
      </p:sp>
      <p:sp>
        <p:nvSpPr>
          <p:cNvPr id="22" name="Object 22"/>
          <p:cNvSpPr txBox="1"/>
          <p:nvPr/>
        </p:nvSpPr>
        <p:spPr>
          <a:xfrm>
            <a:off x="9808882" y="1091309"/>
            <a:ext cx="9444425" cy="9285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500" dirty="0">
                <a:solidFill>
                  <a:srgbClr val="173460"/>
                </a:solidFill>
                <a:latin typeface="Pretendard Medium" pitchFamily="34" charset="0"/>
                <a:cs typeface="Pretendard Medium" pitchFamily="34" charset="0"/>
              </a:rPr>
              <a:t>프로젝트 개요 및 필요성</a:t>
            </a:r>
            <a:endParaRPr lang="en-US" dirty="0"/>
          </a:p>
        </p:txBody>
      </p:sp>
      <p:grpSp>
        <p:nvGrpSpPr>
          <p:cNvPr id="1006" name="그룹 1006"/>
          <p:cNvGrpSpPr/>
          <p:nvPr/>
        </p:nvGrpSpPr>
        <p:grpSpPr>
          <a:xfrm>
            <a:off x="8752834" y="1246074"/>
            <a:ext cx="769098" cy="621609"/>
            <a:chOff x="8752834" y="1246074"/>
            <a:chExt cx="769098" cy="621609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8752834" y="1246074"/>
              <a:ext cx="769098" cy="621609"/>
              <a:chOff x="8752834" y="1246074"/>
              <a:chExt cx="769098" cy="621609"/>
            </a:xfrm>
          </p:grpSpPr>
          <p:pic>
            <p:nvPicPr>
              <p:cNvPr id="25" name="Object 24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752834" y="1246074"/>
                <a:ext cx="769098" cy="621609"/>
              </a:xfrm>
              <a:prstGeom prst="rect">
                <a:avLst/>
              </a:prstGeom>
            </p:spPr>
          </p:pic>
        </p:grpSp>
        <p:sp>
          <p:nvSpPr>
            <p:cNvPr id="27" name="Object 27"/>
            <p:cNvSpPr txBox="1"/>
            <p:nvPr/>
          </p:nvSpPr>
          <p:spPr>
            <a:xfrm>
              <a:off x="8576773" y="1146074"/>
              <a:ext cx="1113511" cy="8000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kern="0" spc="-100" dirty="0">
                  <a:solidFill>
                    <a:srgbClr val="EEF2FC"/>
                  </a:solidFill>
                  <a:latin typeface="Pretendard Medium" pitchFamily="34" charset="0"/>
                  <a:cs typeface="Pretendard Medium" pitchFamily="34" charset="0"/>
                </a:rPr>
                <a:t>01</a:t>
              </a:r>
              <a:endParaRPr lang="en-US" dirty="0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9831741" y="3294118"/>
            <a:ext cx="1004778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제품의 주요기능, 가격, 장단점에 대해 설명한다.</a:t>
            </a:r>
            <a:endParaRPr lang="en-US" dirty="0"/>
          </a:p>
        </p:txBody>
      </p:sp>
      <p:sp>
        <p:nvSpPr>
          <p:cNvPr id="30" name="Object 30"/>
          <p:cNvSpPr txBox="1"/>
          <p:nvPr/>
        </p:nvSpPr>
        <p:spPr>
          <a:xfrm>
            <a:off x="9816501" y="2537023"/>
            <a:ext cx="9444425" cy="9285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500" dirty="0">
                <a:solidFill>
                  <a:srgbClr val="173460"/>
                </a:solidFill>
                <a:latin typeface="Pretendard Medium" pitchFamily="34" charset="0"/>
                <a:cs typeface="Pretendard Medium" pitchFamily="34" charset="0"/>
              </a:rPr>
              <a:t>유사 제품 분석</a:t>
            </a:r>
            <a:endParaRPr lang="en-US" dirty="0"/>
          </a:p>
        </p:txBody>
      </p:sp>
      <p:grpSp>
        <p:nvGrpSpPr>
          <p:cNvPr id="1008" name="그룹 1008"/>
          <p:cNvGrpSpPr/>
          <p:nvPr/>
        </p:nvGrpSpPr>
        <p:grpSpPr>
          <a:xfrm>
            <a:off x="8760454" y="2691788"/>
            <a:ext cx="769098" cy="621609"/>
            <a:chOff x="8760454" y="2691788"/>
            <a:chExt cx="769098" cy="621609"/>
          </a:xfrm>
        </p:grpSpPr>
        <p:grpSp>
          <p:nvGrpSpPr>
            <p:cNvPr id="1009" name="그룹 1009"/>
            <p:cNvGrpSpPr/>
            <p:nvPr/>
          </p:nvGrpSpPr>
          <p:grpSpPr>
            <a:xfrm>
              <a:off x="8760454" y="2691788"/>
              <a:ext cx="769098" cy="621609"/>
              <a:chOff x="8760454" y="2691788"/>
              <a:chExt cx="769098" cy="621609"/>
            </a:xfrm>
          </p:grpSpPr>
          <p:pic>
            <p:nvPicPr>
              <p:cNvPr id="33" name="Object 32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760454" y="2691788"/>
                <a:ext cx="769098" cy="621609"/>
              </a:xfrm>
              <a:prstGeom prst="rect">
                <a:avLst/>
              </a:prstGeom>
            </p:spPr>
          </p:pic>
        </p:grpSp>
        <p:sp>
          <p:nvSpPr>
            <p:cNvPr id="35" name="Object 35"/>
            <p:cNvSpPr txBox="1"/>
            <p:nvPr/>
          </p:nvSpPr>
          <p:spPr>
            <a:xfrm>
              <a:off x="8584392" y="2591788"/>
              <a:ext cx="1113511" cy="8000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kern="0" spc="-100" dirty="0">
                  <a:solidFill>
                    <a:srgbClr val="EEF2FC"/>
                  </a:solidFill>
                  <a:latin typeface="Pretendard Medium" pitchFamily="34" charset="0"/>
                  <a:cs typeface="Pretendard Medium" pitchFamily="34" charset="0"/>
                </a:rPr>
                <a:t>02</a:t>
              </a:r>
              <a:endParaRPr lang="en-US" dirty="0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839360" y="4758880"/>
            <a:ext cx="1004778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기존 제품과 차별점, 외관, 하드웨어 구성, 동작 시나리오에 대해 설명한다.</a:t>
            </a:r>
            <a:endParaRPr lang="en-US" dirty="0"/>
          </a:p>
        </p:txBody>
      </p:sp>
      <p:sp>
        <p:nvSpPr>
          <p:cNvPr id="38" name="Object 38"/>
          <p:cNvSpPr txBox="1"/>
          <p:nvPr/>
        </p:nvSpPr>
        <p:spPr>
          <a:xfrm>
            <a:off x="9814596" y="3992261"/>
            <a:ext cx="9444425" cy="9285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500" dirty="0">
                <a:solidFill>
                  <a:srgbClr val="173460"/>
                </a:solidFill>
                <a:latin typeface="Pretendard Medium" pitchFamily="34" charset="0"/>
                <a:cs typeface="Pretendard Medium" pitchFamily="34" charset="0"/>
              </a:rPr>
              <a:t>시스템 분석</a:t>
            </a:r>
            <a:endParaRPr lang="en-US" dirty="0"/>
          </a:p>
        </p:txBody>
      </p:sp>
      <p:grpSp>
        <p:nvGrpSpPr>
          <p:cNvPr id="1010" name="그룹 1010"/>
          <p:cNvGrpSpPr/>
          <p:nvPr/>
        </p:nvGrpSpPr>
        <p:grpSpPr>
          <a:xfrm>
            <a:off x="8768073" y="4166074"/>
            <a:ext cx="769098" cy="621609"/>
            <a:chOff x="8768073" y="4166074"/>
            <a:chExt cx="769098" cy="621609"/>
          </a:xfrm>
        </p:grpSpPr>
        <p:grpSp>
          <p:nvGrpSpPr>
            <p:cNvPr id="1011" name="그룹 1011"/>
            <p:cNvGrpSpPr/>
            <p:nvPr/>
          </p:nvGrpSpPr>
          <p:grpSpPr>
            <a:xfrm>
              <a:off x="8768073" y="4166074"/>
              <a:ext cx="769098" cy="621609"/>
              <a:chOff x="8768073" y="4166074"/>
              <a:chExt cx="769098" cy="621609"/>
            </a:xfrm>
          </p:grpSpPr>
          <p:pic>
            <p:nvPicPr>
              <p:cNvPr id="41" name="Object 40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768073" y="4166074"/>
                <a:ext cx="769098" cy="621609"/>
              </a:xfrm>
              <a:prstGeom prst="rect">
                <a:avLst/>
              </a:prstGeom>
            </p:spPr>
          </p:pic>
        </p:grpSp>
        <p:sp>
          <p:nvSpPr>
            <p:cNvPr id="43" name="Object 43"/>
            <p:cNvSpPr txBox="1"/>
            <p:nvPr/>
          </p:nvSpPr>
          <p:spPr>
            <a:xfrm>
              <a:off x="8592011" y="4066074"/>
              <a:ext cx="1113511" cy="8000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kern="0" spc="-100" dirty="0">
                  <a:solidFill>
                    <a:srgbClr val="EEF2FC"/>
                  </a:solidFill>
                  <a:latin typeface="Pretendard Medium" pitchFamily="34" charset="0"/>
                  <a:cs typeface="Pretendard Medium" pitchFamily="34" charset="0"/>
                </a:rPr>
                <a:t>03</a:t>
              </a:r>
              <a:endParaRPr lang="en-US" dirty="0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9831741" y="6208403"/>
            <a:ext cx="1004778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제품의 가격에 대해 제시한다.</a:t>
            </a:r>
            <a:endParaRPr lang="en-US" dirty="0"/>
          </a:p>
        </p:txBody>
      </p:sp>
      <p:sp>
        <p:nvSpPr>
          <p:cNvPr id="46" name="Object 46"/>
          <p:cNvSpPr txBox="1"/>
          <p:nvPr/>
        </p:nvSpPr>
        <p:spPr>
          <a:xfrm>
            <a:off x="9816501" y="5451309"/>
            <a:ext cx="9444425" cy="9285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500" dirty="0">
                <a:solidFill>
                  <a:srgbClr val="173460"/>
                </a:solidFill>
                <a:latin typeface="Pretendard Medium" pitchFamily="34" charset="0"/>
                <a:cs typeface="Pretendard Medium" pitchFamily="34" charset="0"/>
              </a:rPr>
              <a:t>필요부품 리스트(가격)</a:t>
            </a:r>
            <a:endParaRPr lang="en-US" dirty="0"/>
          </a:p>
        </p:txBody>
      </p:sp>
      <p:grpSp>
        <p:nvGrpSpPr>
          <p:cNvPr id="1012" name="그룹 1012"/>
          <p:cNvGrpSpPr/>
          <p:nvPr/>
        </p:nvGrpSpPr>
        <p:grpSpPr>
          <a:xfrm>
            <a:off x="8760454" y="5606074"/>
            <a:ext cx="769098" cy="621609"/>
            <a:chOff x="8760454" y="5606074"/>
            <a:chExt cx="769098" cy="621609"/>
          </a:xfrm>
        </p:grpSpPr>
        <p:grpSp>
          <p:nvGrpSpPr>
            <p:cNvPr id="1013" name="그룹 1013"/>
            <p:cNvGrpSpPr/>
            <p:nvPr/>
          </p:nvGrpSpPr>
          <p:grpSpPr>
            <a:xfrm>
              <a:off x="8760454" y="5606074"/>
              <a:ext cx="769098" cy="621609"/>
              <a:chOff x="8760454" y="5606074"/>
              <a:chExt cx="769098" cy="621609"/>
            </a:xfrm>
          </p:grpSpPr>
          <p:pic>
            <p:nvPicPr>
              <p:cNvPr id="49" name="Object 48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760454" y="5606074"/>
                <a:ext cx="769098" cy="621609"/>
              </a:xfrm>
              <a:prstGeom prst="rect">
                <a:avLst/>
              </a:prstGeom>
            </p:spPr>
          </p:pic>
        </p:grpSp>
        <p:sp>
          <p:nvSpPr>
            <p:cNvPr id="51" name="Object 51"/>
            <p:cNvSpPr txBox="1"/>
            <p:nvPr/>
          </p:nvSpPr>
          <p:spPr>
            <a:xfrm>
              <a:off x="8584392" y="5506074"/>
              <a:ext cx="1113511" cy="8000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kern="0" spc="-100" dirty="0">
                  <a:solidFill>
                    <a:srgbClr val="EEF2FC"/>
                  </a:solidFill>
                  <a:latin typeface="Pretendard Medium" pitchFamily="34" charset="0"/>
                  <a:cs typeface="Pretendard Medium" pitchFamily="34" charset="0"/>
                </a:rPr>
                <a:t>04</a:t>
              </a:r>
              <a:endParaRPr lang="en-US" dirty="0"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9839360" y="7654118"/>
            <a:ext cx="1004778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제품의 개발 일정을 표로 나타내 보았다. ( 대략적인 표 &amp; 다음 목표 방향성 제시 )</a:t>
            </a:r>
            <a:endParaRPr lang="en-US" dirty="0"/>
          </a:p>
        </p:txBody>
      </p:sp>
      <p:sp>
        <p:nvSpPr>
          <p:cNvPr id="54" name="Object 54"/>
          <p:cNvSpPr txBox="1"/>
          <p:nvPr/>
        </p:nvSpPr>
        <p:spPr>
          <a:xfrm>
            <a:off x="9824120" y="6897023"/>
            <a:ext cx="9444425" cy="9285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500" dirty="0">
                <a:solidFill>
                  <a:srgbClr val="173460"/>
                </a:solidFill>
                <a:latin typeface="Pretendard Medium" pitchFamily="34" charset="0"/>
                <a:cs typeface="Pretendard Medium" pitchFamily="34" charset="0"/>
              </a:rPr>
              <a:t>개발 일정</a:t>
            </a:r>
            <a:endParaRPr lang="en-US" dirty="0"/>
          </a:p>
        </p:txBody>
      </p:sp>
      <p:grpSp>
        <p:nvGrpSpPr>
          <p:cNvPr id="1014" name="그룹 1014"/>
          <p:cNvGrpSpPr/>
          <p:nvPr/>
        </p:nvGrpSpPr>
        <p:grpSpPr>
          <a:xfrm>
            <a:off x="8768073" y="7051788"/>
            <a:ext cx="769098" cy="621609"/>
            <a:chOff x="8768073" y="7051788"/>
            <a:chExt cx="769098" cy="621609"/>
          </a:xfrm>
        </p:grpSpPr>
        <p:grpSp>
          <p:nvGrpSpPr>
            <p:cNvPr id="1015" name="그룹 1015"/>
            <p:cNvGrpSpPr/>
            <p:nvPr/>
          </p:nvGrpSpPr>
          <p:grpSpPr>
            <a:xfrm>
              <a:off x="8768073" y="7051788"/>
              <a:ext cx="769098" cy="621609"/>
              <a:chOff x="8768073" y="7051788"/>
              <a:chExt cx="769098" cy="621609"/>
            </a:xfrm>
          </p:grpSpPr>
          <p:pic>
            <p:nvPicPr>
              <p:cNvPr id="57" name="Object 56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768073" y="7051788"/>
                <a:ext cx="769098" cy="621609"/>
              </a:xfrm>
              <a:prstGeom prst="rect">
                <a:avLst/>
              </a:prstGeom>
            </p:spPr>
          </p:pic>
        </p:grpSp>
        <p:sp>
          <p:nvSpPr>
            <p:cNvPr id="59" name="Object 59"/>
            <p:cNvSpPr txBox="1"/>
            <p:nvPr/>
          </p:nvSpPr>
          <p:spPr>
            <a:xfrm>
              <a:off x="8592011" y="6951788"/>
              <a:ext cx="1113511" cy="8000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kern="0" spc="-100" dirty="0">
                  <a:solidFill>
                    <a:srgbClr val="EEF2FC"/>
                  </a:solidFill>
                  <a:latin typeface="Pretendard Medium" pitchFamily="34" charset="0"/>
                  <a:cs typeface="Pretendard Medium" pitchFamily="34" charset="0"/>
                </a:rPr>
                <a:t>05</a:t>
              </a:r>
              <a:endParaRPr lang="en-US" dirty="0"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9846979" y="9080784"/>
            <a:ext cx="1004778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참고문헌 및 개발 기술들을 간략히 설명한다.</a:t>
            </a:r>
            <a:endParaRPr lang="en-US" dirty="0"/>
          </a:p>
        </p:txBody>
      </p:sp>
      <p:sp>
        <p:nvSpPr>
          <p:cNvPr id="62" name="Object 62"/>
          <p:cNvSpPr txBox="1"/>
          <p:nvPr/>
        </p:nvSpPr>
        <p:spPr>
          <a:xfrm>
            <a:off x="9831739" y="8295118"/>
            <a:ext cx="9444425" cy="9285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500" dirty="0">
                <a:solidFill>
                  <a:srgbClr val="173460"/>
                </a:solidFill>
                <a:latin typeface="Pretendard Medium" pitchFamily="34" charset="0"/>
                <a:cs typeface="Pretendard Medium" pitchFamily="34" charset="0"/>
              </a:rPr>
              <a:t>참고문헌 및 출처</a:t>
            </a:r>
            <a:endParaRPr lang="en-US" dirty="0"/>
          </a:p>
        </p:txBody>
      </p:sp>
      <p:grpSp>
        <p:nvGrpSpPr>
          <p:cNvPr id="1016" name="그룹 1016"/>
          <p:cNvGrpSpPr/>
          <p:nvPr/>
        </p:nvGrpSpPr>
        <p:grpSpPr>
          <a:xfrm>
            <a:off x="8775692" y="8468931"/>
            <a:ext cx="769098" cy="621609"/>
            <a:chOff x="8775692" y="8468931"/>
            <a:chExt cx="769098" cy="621609"/>
          </a:xfrm>
        </p:grpSpPr>
        <p:grpSp>
          <p:nvGrpSpPr>
            <p:cNvPr id="1017" name="그룹 1017"/>
            <p:cNvGrpSpPr/>
            <p:nvPr/>
          </p:nvGrpSpPr>
          <p:grpSpPr>
            <a:xfrm>
              <a:off x="8775692" y="8468931"/>
              <a:ext cx="769098" cy="621609"/>
              <a:chOff x="8775692" y="8468931"/>
              <a:chExt cx="769098" cy="621609"/>
            </a:xfrm>
          </p:grpSpPr>
          <p:pic>
            <p:nvPicPr>
              <p:cNvPr id="65" name="Object 64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775692" y="8468931"/>
                <a:ext cx="769098" cy="621609"/>
              </a:xfrm>
              <a:prstGeom prst="rect">
                <a:avLst/>
              </a:prstGeom>
            </p:spPr>
          </p:pic>
        </p:grpSp>
        <p:sp>
          <p:nvSpPr>
            <p:cNvPr id="67" name="Object 67"/>
            <p:cNvSpPr txBox="1"/>
            <p:nvPr/>
          </p:nvSpPr>
          <p:spPr>
            <a:xfrm>
              <a:off x="8599630" y="8368931"/>
              <a:ext cx="1113511" cy="8000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kern="0" spc="-100" dirty="0">
                  <a:solidFill>
                    <a:srgbClr val="EEF2FC"/>
                  </a:solidFill>
                  <a:latin typeface="Pretendard Medium" pitchFamily="34" charset="0"/>
                  <a:cs typeface="Pretendard Medium" pitchFamily="34" charset="0"/>
                </a:rPr>
                <a:t>06</a:t>
              </a:r>
              <a:endParaRPr lang="en-US" dirty="0"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3127296" y="449795"/>
            <a:ext cx="4539370" cy="4828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800" dirty="0">
                <a:solidFill>
                  <a:srgbClr val="173460"/>
                </a:solidFill>
                <a:latin typeface="Pretendard SemiBold" pitchFamily="34" charset="0"/>
                <a:cs typeface="Pretendard SemiBold" pitchFamily="34" charset="0"/>
              </a:rPr>
              <a:t>CONTENTS</a:t>
            </a:r>
            <a:endParaRPr lang="en-US" dirty="0"/>
          </a:p>
        </p:txBody>
      </p:sp>
      <p:sp>
        <p:nvSpPr>
          <p:cNvPr id="70" name="Object 70"/>
          <p:cNvSpPr txBox="1"/>
          <p:nvPr/>
        </p:nvSpPr>
        <p:spPr>
          <a:xfrm>
            <a:off x="1425622" y="2567976"/>
            <a:ext cx="6432995" cy="120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dirty="0">
                <a:solidFill>
                  <a:srgbClr val="173460"/>
                </a:solidFill>
                <a:latin typeface="Pretendard" pitchFamily="34" charset="0"/>
                <a:cs typeface="Pretendard" pitchFamily="34" charset="0"/>
              </a:rPr>
              <a:t>COOPERATION PROJECT</a:t>
            </a:r>
          </a:p>
          <a:p>
            <a:r>
              <a:rPr lang="en-US" sz="2300" dirty="0">
                <a:solidFill>
                  <a:srgbClr val="173460"/>
                </a:solidFill>
                <a:latin typeface="Pretendard" pitchFamily="34" charset="0"/>
                <a:cs typeface="Pretendard" pitchFamily="34" charset="0"/>
              </a:rPr>
              <a:t>WORK REPORT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9048" y="4989"/>
            <a:ext cx="18315193" cy="190476"/>
            <a:chOff x="-19048" y="4989"/>
            <a:chExt cx="18315193" cy="19047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9048" y="4989"/>
              <a:ext cx="18315193" cy="19047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111337" y="3047619"/>
            <a:ext cx="16069616" cy="6295692"/>
            <a:chOff x="1111337" y="3047619"/>
            <a:chExt cx="16069616" cy="6295692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1337" y="3047619"/>
              <a:ext cx="16069616" cy="629569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11337" y="603628"/>
            <a:ext cx="9428233" cy="21333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8000" kern="0" spc="-100" dirty="0">
                <a:solidFill>
                  <a:srgbClr val="173460"/>
                </a:solidFill>
                <a:latin typeface="Pretendard" pitchFamily="34" charset="0"/>
                <a:cs typeface="Pretendard" pitchFamily="34" charset="0"/>
              </a:rPr>
              <a:t>프로젝트 개요</a:t>
            </a:r>
            <a:endParaRPr lang="en-US" dirty="0"/>
          </a:p>
        </p:txBody>
      </p:sp>
      <p:sp>
        <p:nvSpPr>
          <p:cNvPr id="9" name="Object 9"/>
          <p:cNvSpPr txBox="1"/>
          <p:nvPr/>
        </p:nvSpPr>
        <p:spPr>
          <a:xfrm>
            <a:off x="3063264" y="6463536"/>
            <a:ext cx="9306485" cy="4462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dirty="0">
                <a:solidFill>
                  <a:srgbClr val="BDC7E1"/>
                </a:solidFill>
                <a:latin typeface="Abadi" panose="020F0502020204030204" pitchFamily="34" charset="0"/>
                <a:cs typeface="Pretendard Light" pitchFamily="34" charset="0"/>
              </a:rPr>
              <a:t>2024.05.04 ~ 2024.06.12</a:t>
            </a:r>
            <a:endParaRPr lang="en-US" dirty="0"/>
          </a:p>
        </p:txBody>
      </p:sp>
      <p:sp>
        <p:nvSpPr>
          <p:cNvPr id="10" name="Object 10"/>
          <p:cNvSpPr txBox="1"/>
          <p:nvPr/>
        </p:nvSpPr>
        <p:spPr>
          <a:xfrm>
            <a:off x="2540088" y="5694040"/>
            <a:ext cx="8360432" cy="85265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Pretendard Medium" pitchFamily="34" charset="0"/>
                <a:cs typeface="Pretendard Medium" pitchFamily="34" charset="0"/>
              </a:rPr>
              <a:t>프로젝트 기간</a:t>
            </a:r>
            <a:endParaRPr lang="en-US" dirty="0"/>
          </a:p>
        </p:txBody>
      </p:sp>
      <p:sp>
        <p:nvSpPr>
          <p:cNvPr id="11" name="Object 11"/>
          <p:cNvSpPr txBox="1"/>
          <p:nvPr/>
        </p:nvSpPr>
        <p:spPr>
          <a:xfrm>
            <a:off x="3013064" y="8100874"/>
            <a:ext cx="9306485" cy="4462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dirty="0">
                <a:solidFill>
                  <a:srgbClr val="BDC7E1"/>
                </a:solidFill>
                <a:latin typeface="Abadi" panose="020F0502020204030204" pitchFamily="34" charset="0"/>
                <a:cs typeface="Pretendard Light" pitchFamily="34" charset="0"/>
              </a:rPr>
              <a:t>최소 금액  약 117,290 원</a:t>
            </a:r>
            <a:endParaRPr lang="en-US" dirty="0"/>
          </a:p>
        </p:txBody>
      </p:sp>
      <p:sp>
        <p:nvSpPr>
          <p:cNvPr id="12" name="Object 12"/>
          <p:cNvSpPr txBox="1"/>
          <p:nvPr/>
        </p:nvSpPr>
        <p:spPr>
          <a:xfrm>
            <a:off x="2540088" y="7333457"/>
            <a:ext cx="8360432" cy="84849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Pretendard Medium" pitchFamily="34" charset="0"/>
                <a:cs typeface="Pretendard Medium" pitchFamily="34" charset="0"/>
              </a:rPr>
              <a:t>프로젝트 총 금액</a:t>
            </a:r>
            <a:endParaRPr lang="en-US" dirty="0"/>
          </a:p>
        </p:txBody>
      </p:sp>
      <p:grpSp>
        <p:nvGrpSpPr>
          <p:cNvPr id="1003" name="그룹 1003"/>
          <p:cNvGrpSpPr/>
          <p:nvPr/>
        </p:nvGrpSpPr>
        <p:grpSpPr>
          <a:xfrm>
            <a:off x="2641594" y="5486509"/>
            <a:ext cx="5846761" cy="14286"/>
            <a:chOff x="2641594" y="5486509"/>
            <a:chExt cx="5846761" cy="14286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1594" y="5486509"/>
              <a:ext cx="5846761" cy="1428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649715" y="7128880"/>
            <a:ext cx="5846761" cy="14286"/>
            <a:chOff x="2649715" y="7128880"/>
            <a:chExt cx="5846761" cy="14286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9715" y="7128880"/>
              <a:ext cx="5846761" cy="1428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034951" y="4371839"/>
            <a:ext cx="6385536" cy="80021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300" dirty="0">
                <a:solidFill>
                  <a:srgbClr val="BDC7E1"/>
                </a:solidFill>
                <a:latin typeface="Abadi" panose="020F0502020204030204" pitchFamily="34" charset="0"/>
                <a:cs typeface="Pretendard Light" pitchFamily="34" charset="0"/>
              </a:rPr>
              <a:t>날씨에 따라 옷차림을 알려주는 </a:t>
            </a:r>
            <a:r>
              <a:rPr lang="en-US" altLang="ko-KR" sz="2300" dirty="0" err="1">
                <a:solidFill>
                  <a:srgbClr val="BDC7E1"/>
                </a:solidFill>
                <a:latin typeface="Abadi" panose="020F0502020204030204" pitchFamily="34" charset="0"/>
                <a:cs typeface="Pretendard Light" pitchFamily="34" charset="0"/>
              </a:rPr>
              <a:t>iot</a:t>
            </a:r>
            <a:r>
              <a:rPr lang="en-US" altLang="ko-KR" sz="2300" dirty="0">
                <a:solidFill>
                  <a:srgbClr val="BDC7E1"/>
                </a:solidFill>
                <a:latin typeface="Abadi" panose="020F0502020204030204" pitchFamily="34" charset="0"/>
                <a:cs typeface="Pretendard Light" pitchFamily="34" charset="0"/>
              </a:rPr>
              <a:t> </a:t>
            </a:r>
            <a:r>
              <a:rPr lang="ko-KR" altLang="en-US" sz="2300" dirty="0">
                <a:solidFill>
                  <a:srgbClr val="BDC7E1"/>
                </a:solidFill>
                <a:latin typeface="Abadi" panose="020F0502020204030204" pitchFamily="34" charset="0"/>
                <a:cs typeface="Pretendard Light" pitchFamily="34" charset="0"/>
              </a:rPr>
              <a:t>스마트 창문 제어 </a:t>
            </a:r>
            <a:r>
              <a:rPr lang="ko-KR" altLang="en-US" sz="2300" dirty="0" err="1">
                <a:solidFill>
                  <a:srgbClr val="BDC7E1"/>
                </a:solidFill>
                <a:latin typeface="Abadi" panose="020F0502020204030204" pitchFamily="34" charset="0"/>
                <a:cs typeface="Pretendard Light" pitchFamily="34" charset="0"/>
              </a:rPr>
              <a:t>알리미</a:t>
            </a:r>
            <a:endParaRPr lang="en-US" dirty="0"/>
          </a:p>
        </p:txBody>
      </p:sp>
      <p:sp>
        <p:nvSpPr>
          <p:cNvPr id="20" name="Object 20"/>
          <p:cNvSpPr txBox="1"/>
          <p:nvPr/>
        </p:nvSpPr>
        <p:spPr>
          <a:xfrm>
            <a:off x="2540088" y="3730301"/>
            <a:ext cx="287011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Pretendard Medium" pitchFamily="34" charset="0"/>
                <a:cs typeface="Pretendard Medium" pitchFamily="34" charset="0"/>
              </a:rPr>
              <a:t>프로젝트 명</a:t>
            </a:r>
            <a:endParaRPr lang="en-US" dirty="0"/>
          </a:p>
        </p:txBody>
      </p:sp>
      <p:sp>
        <p:nvSpPr>
          <p:cNvPr id="21" name="Object 21"/>
          <p:cNvSpPr txBox="1"/>
          <p:nvPr/>
        </p:nvSpPr>
        <p:spPr>
          <a:xfrm>
            <a:off x="10053045" y="4058948"/>
            <a:ext cx="8360432" cy="84849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Pretendard Medium" pitchFamily="34" charset="0"/>
                <a:cs typeface="Pretendard Medium" pitchFamily="34" charset="0"/>
              </a:rPr>
              <a:t>참여 인원 : 2명</a:t>
            </a:r>
            <a:endParaRPr lang="en-US" dirty="0"/>
          </a:p>
        </p:txBody>
      </p:sp>
      <p:grpSp>
        <p:nvGrpSpPr>
          <p:cNvPr id="1005" name="그룹 1005"/>
          <p:cNvGrpSpPr/>
          <p:nvPr/>
        </p:nvGrpSpPr>
        <p:grpSpPr>
          <a:xfrm>
            <a:off x="10181216" y="6104687"/>
            <a:ext cx="6204323" cy="2664831"/>
            <a:chOff x="10181216" y="6104687"/>
            <a:chExt cx="6204323" cy="2664831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81216" y="6104687"/>
              <a:ext cx="6204323" cy="2664831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0527019" y="6476760"/>
            <a:ext cx="6061207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500" dirty="0">
                <a:solidFill>
                  <a:srgbClr val="BDC7E1"/>
                </a:solidFill>
                <a:latin typeface="Abadi" panose="020F0502020204030204" pitchFamily="34" charset="0"/>
                <a:cs typeface="Pretendard Light" pitchFamily="34" charset="0"/>
              </a:rPr>
              <a:t>서지민 : 아이디어 구상 및 스케치, hw/sw 구상, 자료 조사</a:t>
            </a:r>
            <a:endParaRPr lang="en-US" dirty="0"/>
          </a:p>
        </p:txBody>
      </p:sp>
      <p:sp>
        <p:nvSpPr>
          <p:cNvPr id="26" name="Object 26"/>
          <p:cNvSpPr txBox="1"/>
          <p:nvPr/>
        </p:nvSpPr>
        <p:spPr>
          <a:xfrm>
            <a:off x="10458596" y="5677995"/>
            <a:ext cx="2096708" cy="6664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500" dirty="0">
                <a:solidFill>
                  <a:srgbClr val="FFFFFF"/>
                </a:solidFill>
                <a:latin typeface="Pretendard Medium" pitchFamily="34" charset="0"/>
                <a:cs typeface="Pretendard Medium" pitchFamily="34" charset="0"/>
              </a:rPr>
              <a:t>역할 분담</a:t>
            </a:r>
            <a:endParaRPr lang="en-US" dirty="0"/>
          </a:p>
        </p:txBody>
      </p:sp>
      <p:grpSp>
        <p:nvGrpSpPr>
          <p:cNvPr id="1006" name="그룹 1006"/>
          <p:cNvGrpSpPr/>
          <p:nvPr/>
        </p:nvGrpSpPr>
        <p:grpSpPr>
          <a:xfrm>
            <a:off x="18151709" y="9801545"/>
            <a:ext cx="142857" cy="479351"/>
            <a:chOff x="18151709" y="9801545"/>
            <a:chExt cx="142857" cy="479351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151709" y="9801545"/>
              <a:ext cx="142857" cy="47935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208189" y="3331719"/>
            <a:ext cx="758677" cy="190476"/>
            <a:chOff x="1208189" y="3331719"/>
            <a:chExt cx="758677" cy="190476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5400000">
              <a:off x="1208189" y="3331719"/>
              <a:ext cx="758677" cy="19047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6185941" y="9660839"/>
            <a:ext cx="1809524" cy="4828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800" dirty="0">
                <a:solidFill>
                  <a:srgbClr val="173460"/>
                </a:solidFill>
                <a:latin typeface="Pretendard SemiBold" pitchFamily="34" charset="0"/>
                <a:cs typeface="Pretendard SemiBold" pitchFamily="34" charset="0"/>
              </a:rPr>
              <a:t>03</a:t>
            </a:r>
            <a:endParaRPr lang="en-US" dirty="0"/>
          </a:p>
        </p:txBody>
      </p:sp>
      <p:sp>
        <p:nvSpPr>
          <p:cNvPr id="34" name="Object 34"/>
          <p:cNvSpPr txBox="1"/>
          <p:nvPr/>
        </p:nvSpPr>
        <p:spPr>
          <a:xfrm>
            <a:off x="12380952" y="449795"/>
            <a:ext cx="5285714" cy="4828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800" dirty="0">
                <a:solidFill>
                  <a:srgbClr val="173460"/>
                </a:solidFill>
                <a:latin typeface="Pretendard SemiBold" pitchFamily="34" charset="0"/>
                <a:cs typeface="Pretendard SemiBold" pitchFamily="34" charset="0"/>
              </a:rPr>
              <a:t>PROJECT OVERVIEW</a:t>
            </a:r>
            <a:endParaRPr lang="en-US" dirty="0"/>
          </a:p>
        </p:txBody>
      </p:sp>
      <p:sp>
        <p:nvSpPr>
          <p:cNvPr id="35" name="Object 35"/>
          <p:cNvSpPr txBox="1"/>
          <p:nvPr/>
        </p:nvSpPr>
        <p:spPr>
          <a:xfrm>
            <a:off x="10190740" y="4876741"/>
            <a:ext cx="9306485" cy="80021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dirty="0">
                <a:solidFill>
                  <a:srgbClr val="BDC7E1"/>
                </a:solidFill>
                <a:latin typeface="Abadi" panose="020F0502020204030204" pitchFamily="34" charset="0"/>
                <a:cs typeface="Pretendard Light" pitchFamily="34" charset="0"/>
              </a:rPr>
              <a:t>202345042 서지민</a:t>
            </a:r>
          </a:p>
          <a:p>
            <a:r>
              <a:rPr lang="en-US" sz="2300" dirty="0">
                <a:solidFill>
                  <a:srgbClr val="BDC7E1"/>
                </a:solidFill>
                <a:latin typeface="Abadi" panose="020F0502020204030204" pitchFamily="34" charset="0"/>
                <a:cs typeface="Pretendard Light" pitchFamily="34" charset="0"/>
              </a:rPr>
              <a:t>202345038 임채연</a:t>
            </a:r>
            <a:endParaRPr lang="en-US" dirty="0"/>
          </a:p>
        </p:txBody>
      </p:sp>
      <p:sp>
        <p:nvSpPr>
          <p:cNvPr id="36" name="Object 36"/>
          <p:cNvSpPr txBox="1"/>
          <p:nvPr/>
        </p:nvSpPr>
        <p:spPr>
          <a:xfrm>
            <a:off x="10527058" y="7493328"/>
            <a:ext cx="6061207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500" dirty="0">
                <a:solidFill>
                  <a:srgbClr val="BDC7E1"/>
                </a:solidFill>
                <a:latin typeface="Abadi" panose="020F0502020204030204" pitchFamily="34" charset="0"/>
                <a:cs typeface="Pretendard Light" pitchFamily="34" charset="0"/>
              </a:rPr>
              <a:t>임채연 : 제품에 대한 효과 제시, hw/sw 구상, 자료 조사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9048" y="4989"/>
            <a:ext cx="18315193" cy="190476"/>
            <a:chOff x="-19048" y="4989"/>
            <a:chExt cx="18315193" cy="19047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9048" y="4989"/>
              <a:ext cx="18315193" cy="19047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029984" y="215859"/>
            <a:ext cx="9349433" cy="20212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7600" kern="0" spc="-100" dirty="0">
                <a:solidFill>
                  <a:srgbClr val="173460"/>
                </a:solidFill>
                <a:latin typeface="Pretendard" pitchFamily="34" charset="0"/>
                <a:cs typeface="Pretendard" pitchFamily="34" charset="0"/>
              </a:rPr>
              <a:t>프로젝트 필요성</a:t>
            </a:r>
            <a:endParaRPr lang="en-US" dirty="0"/>
          </a:p>
        </p:txBody>
      </p:sp>
      <p:grpSp>
        <p:nvGrpSpPr>
          <p:cNvPr id="1002" name="그룹 1002"/>
          <p:cNvGrpSpPr/>
          <p:nvPr/>
        </p:nvGrpSpPr>
        <p:grpSpPr>
          <a:xfrm>
            <a:off x="18151709" y="9801545"/>
            <a:ext cx="142857" cy="479351"/>
            <a:chOff x="18151709" y="9801545"/>
            <a:chExt cx="142857" cy="479351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151709" y="9801545"/>
              <a:ext cx="142857" cy="47935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6185941" y="9660839"/>
            <a:ext cx="1809524" cy="4828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800" dirty="0">
                <a:solidFill>
                  <a:srgbClr val="173460"/>
                </a:solidFill>
                <a:latin typeface="Pretendard SemiBold" pitchFamily="34" charset="0"/>
                <a:cs typeface="Pretendard SemiBold" pitchFamily="34" charset="0"/>
              </a:rPr>
              <a:t>04</a:t>
            </a:r>
            <a:endParaRPr lang="en-US" dirty="0"/>
          </a:p>
        </p:txBody>
      </p:sp>
      <p:sp>
        <p:nvSpPr>
          <p:cNvPr id="10" name="Object 10"/>
          <p:cNvSpPr txBox="1"/>
          <p:nvPr/>
        </p:nvSpPr>
        <p:spPr>
          <a:xfrm>
            <a:off x="12380952" y="449795"/>
            <a:ext cx="5285714" cy="4828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800" dirty="0">
                <a:solidFill>
                  <a:srgbClr val="173460"/>
                </a:solidFill>
                <a:latin typeface="Pretendard SemiBold" pitchFamily="34" charset="0"/>
                <a:cs typeface="Pretendard SemiBold" pitchFamily="34" charset="0"/>
              </a:rPr>
              <a:t>PROJECT GOALS</a:t>
            </a:r>
            <a:endParaRPr lang="en-US" dirty="0"/>
          </a:p>
        </p:txBody>
      </p:sp>
      <p:grpSp>
        <p:nvGrpSpPr>
          <p:cNvPr id="1003" name="그룹 1003"/>
          <p:cNvGrpSpPr/>
          <p:nvPr/>
        </p:nvGrpSpPr>
        <p:grpSpPr>
          <a:xfrm>
            <a:off x="1033617" y="1767195"/>
            <a:ext cx="5180952" cy="2122264"/>
            <a:chOff x="1190476" y="3676190"/>
            <a:chExt cx="5180952" cy="2259215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0476" y="3676190"/>
              <a:ext cx="5180952" cy="2259215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059039" y="1808717"/>
            <a:ext cx="1113511" cy="800000"/>
            <a:chOff x="998755" y="3290397"/>
            <a:chExt cx="1113511" cy="800000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1195055" y="3374910"/>
              <a:ext cx="769098" cy="621609"/>
              <a:chOff x="1195055" y="3374910"/>
              <a:chExt cx="769098" cy="621609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195055" y="3374910"/>
                <a:ext cx="769098" cy="621609"/>
              </a:xfrm>
              <a:prstGeom prst="rect">
                <a:avLst/>
              </a:prstGeom>
            </p:spPr>
          </p:pic>
        </p:grpSp>
        <p:sp>
          <p:nvSpPr>
            <p:cNvPr id="21" name="Object 21"/>
            <p:cNvSpPr txBox="1"/>
            <p:nvPr/>
          </p:nvSpPr>
          <p:spPr>
            <a:xfrm>
              <a:off x="998755" y="3290397"/>
              <a:ext cx="1113511" cy="8000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kern="0" spc="-100" dirty="0">
                  <a:solidFill>
                    <a:srgbClr val="EEF2FC"/>
                  </a:solidFill>
                  <a:latin typeface="Pretendard Medium" pitchFamily="34" charset="0"/>
                  <a:cs typeface="Pretendard Medium" pitchFamily="34" charset="0"/>
                </a:rPr>
                <a:t>01</a:t>
              </a:r>
              <a:endParaRPr lang="en-US" dirty="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139366" y="2150731"/>
            <a:ext cx="3565334" cy="5078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700" kern="0" spc="-100" dirty="0">
                <a:solidFill>
                  <a:srgbClr val="173460"/>
                </a:solidFill>
                <a:latin typeface="Pretendard Medium" pitchFamily="34" charset="0"/>
                <a:cs typeface="Pretendard Medium" pitchFamily="34" charset="0"/>
              </a:rPr>
              <a:t>누가 </a:t>
            </a:r>
            <a:r>
              <a:rPr lang="en-US" sz="2700" kern="0" spc="-100" dirty="0" err="1">
                <a:solidFill>
                  <a:srgbClr val="173460"/>
                </a:solidFill>
                <a:latin typeface="Pretendard Medium" pitchFamily="34" charset="0"/>
                <a:cs typeface="Pretendard Medium" pitchFamily="34" charset="0"/>
              </a:rPr>
              <a:t>사용하면</a:t>
            </a:r>
            <a:r>
              <a:rPr lang="en-US" sz="2700" kern="0" spc="-100" dirty="0">
                <a:solidFill>
                  <a:srgbClr val="173460"/>
                </a:solidFill>
                <a:latin typeface="Pretendard Medium" pitchFamily="34" charset="0"/>
                <a:cs typeface="Pretendard Medium" pitchFamily="34" charset="0"/>
              </a:rPr>
              <a:t> </a:t>
            </a:r>
            <a:r>
              <a:rPr lang="en-US" sz="2700" kern="0" spc="-100" dirty="0" err="1">
                <a:solidFill>
                  <a:srgbClr val="173460"/>
                </a:solidFill>
                <a:latin typeface="Pretendard Medium" pitchFamily="34" charset="0"/>
                <a:cs typeface="Pretendard Medium" pitchFamily="34" charset="0"/>
              </a:rPr>
              <a:t>좋을까</a:t>
            </a:r>
            <a:r>
              <a:rPr lang="en-US" sz="2700" kern="0" spc="-100" dirty="0">
                <a:solidFill>
                  <a:srgbClr val="173460"/>
                </a:solidFill>
                <a:latin typeface="Pretendard Medium" pitchFamily="34" charset="0"/>
                <a:cs typeface="Pretendard Medium" pitchFamily="34" charset="0"/>
              </a:rPr>
              <a:t>?</a:t>
            </a:r>
            <a:endParaRPr lang="en-US" dirty="0"/>
          </a:p>
        </p:txBody>
      </p:sp>
      <p:sp>
        <p:nvSpPr>
          <p:cNvPr id="24" name="Object 24"/>
          <p:cNvSpPr txBox="1"/>
          <p:nvPr/>
        </p:nvSpPr>
        <p:spPr>
          <a:xfrm>
            <a:off x="1481873" y="3009001"/>
            <a:ext cx="4551082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solidFill>
                  <a:srgbClr val="7B8BA6"/>
                </a:solidFill>
                <a:latin typeface="Abadi" panose="020F0502020204030204" pitchFamily="34" charset="0"/>
                <a:cs typeface="Pretendard Light" pitchFamily="34" charset="0"/>
              </a:rPr>
              <a:t>날씨에 따라 어떤 옷차림을 입어야 할지 고민이 많은 사람들이 사용하면 좋다.</a:t>
            </a:r>
            <a:endParaRPr lang="en-US" dirty="0"/>
          </a:p>
        </p:txBody>
      </p:sp>
      <p:grpSp>
        <p:nvGrpSpPr>
          <p:cNvPr id="1007" name="그룹 1007"/>
          <p:cNvGrpSpPr/>
          <p:nvPr/>
        </p:nvGrpSpPr>
        <p:grpSpPr>
          <a:xfrm>
            <a:off x="7166389" y="2839135"/>
            <a:ext cx="3691127" cy="5733365"/>
            <a:chOff x="6761905" y="3904211"/>
            <a:chExt cx="4780373" cy="4780373"/>
          </a:xfrm>
          <a:solidFill>
            <a:srgbClr val="B9C8EF"/>
          </a:solidFill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61905" y="3904211"/>
              <a:ext cx="4780373" cy="478037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1008" name="그룹 1008"/>
          <p:cNvGrpSpPr/>
          <p:nvPr/>
        </p:nvGrpSpPr>
        <p:grpSpPr>
          <a:xfrm>
            <a:off x="7472123" y="3072858"/>
            <a:ext cx="3043477" cy="5347242"/>
            <a:chOff x="7086258" y="4255980"/>
            <a:chExt cx="4126615" cy="4126615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86258" y="4255980"/>
              <a:ext cx="4126615" cy="4126615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37" name="Object 37"/>
          <p:cNvSpPr txBox="1"/>
          <p:nvPr/>
        </p:nvSpPr>
        <p:spPr>
          <a:xfrm>
            <a:off x="5867400" y="5166919"/>
            <a:ext cx="6238887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0" kern="0" spc="-100" dirty="0">
                <a:solidFill>
                  <a:srgbClr val="EEF2FC"/>
                </a:solidFill>
                <a:latin typeface="Pretendard Thin" pitchFamily="34" charset="0"/>
                <a:cs typeface="Pretendard Thin" pitchFamily="34" charset="0"/>
              </a:rPr>
              <a:t>GOALS</a:t>
            </a:r>
            <a:endParaRPr lang="en-US" dirty="0"/>
          </a:p>
        </p:txBody>
      </p:sp>
      <p:sp>
        <p:nvSpPr>
          <p:cNvPr id="38" name="Object 38"/>
          <p:cNvSpPr txBox="1"/>
          <p:nvPr/>
        </p:nvSpPr>
        <p:spPr>
          <a:xfrm>
            <a:off x="6172200" y="4773772"/>
            <a:ext cx="5738554" cy="64571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>
                <a:solidFill>
                  <a:srgbClr val="EEF2FC"/>
                </a:solidFill>
                <a:latin typeface="Pretendard" pitchFamily="34" charset="0"/>
                <a:cs typeface="Pretendard" pitchFamily="34" charset="0"/>
              </a:rPr>
              <a:t>PROJECT</a:t>
            </a:r>
            <a:endParaRPr lang="en-US" dirty="0"/>
          </a:p>
        </p:txBody>
      </p:sp>
      <p:grpSp>
        <p:nvGrpSpPr>
          <p:cNvPr id="1011" name="그룹 1011"/>
          <p:cNvGrpSpPr/>
          <p:nvPr/>
        </p:nvGrpSpPr>
        <p:grpSpPr>
          <a:xfrm>
            <a:off x="1092325" y="6087605"/>
            <a:ext cx="5180952" cy="1824857"/>
            <a:chOff x="1198095" y="6912381"/>
            <a:chExt cx="5180952" cy="2259215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8095" y="6912381"/>
              <a:ext cx="5180952" cy="2259215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015596" y="6108418"/>
            <a:ext cx="1113511" cy="800000"/>
            <a:chOff x="1026612" y="6511100"/>
            <a:chExt cx="1113511" cy="800000"/>
          </a:xfrm>
        </p:grpSpPr>
        <p:grpSp>
          <p:nvGrpSpPr>
            <p:cNvPr id="1014" name="그룹 1014"/>
            <p:cNvGrpSpPr/>
            <p:nvPr/>
          </p:nvGrpSpPr>
          <p:grpSpPr>
            <a:xfrm>
              <a:off x="1202674" y="6611100"/>
              <a:ext cx="769098" cy="621609"/>
              <a:chOff x="1202674" y="6611100"/>
              <a:chExt cx="769098" cy="621609"/>
            </a:xfrm>
          </p:grpSpPr>
          <p:pic>
            <p:nvPicPr>
              <p:cNvPr id="47" name="Object 46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202674" y="6611100"/>
                <a:ext cx="769098" cy="621609"/>
              </a:xfrm>
              <a:prstGeom prst="rect">
                <a:avLst/>
              </a:prstGeom>
            </p:spPr>
          </p:pic>
        </p:grpSp>
        <p:sp>
          <p:nvSpPr>
            <p:cNvPr id="49" name="Object 49"/>
            <p:cNvSpPr txBox="1"/>
            <p:nvPr/>
          </p:nvSpPr>
          <p:spPr>
            <a:xfrm>
              <a:off x="1026612" y="6511100"/>
              <a:ext cx="1113511" cy="8000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kern="0" spc="-100" dirty="0">
                  <a:solidFill>
                    <a:srgbClr val="EEF2FC"/>
                  </a:solidFill>
                  <a:latin typeface="Pretendard Medium" pitchFamily="34" charset="0"/>
                  <a:cs typeface="Pretendard Medium" pitchFamily="34" charset="0"/>
                </a:rPr>
                <a:t>03</a:t>
              </a:r>
              <a:endParaRPr lang="en-US" dirty="0"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2090416" y="6272462"/>
            <a:ext cx="3917798" cy="5078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700" kern="0" spc="-100" dirty="0">
                <a:solidFill>
                  <a:srgbClr val="173460"/>
                </a:solidFill>
                <a:latin typeface="Pretendard Medium" pitchFamily="34" charset="0"/>
                <a:cs typeface="Pretendard Medium" pitchFamily="34" charset="0"/>
              </a:rPr>
              <a:t>어디서 사용하면 좋을까?</a:t>
            </a:r>
            <a:endParaRPr lang="en-US" dirty="0"/>
          </a:p>
        </p:txBody>
      </p:sp>
      <p:sp>
        <p:nvSpPr>
          <p:cNvPr id="52" name="Object 52"/>
          <p:cNvSpPr txBox="1"/>
          <p:nvPr/>
        </p:nvSpPr>
        <p:spPr>
          <a:xfrm>
            <a:off x="1490541" y="7114664"/>
            <a:ext cx="468166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solidFill>
                  <a:srgbClr val="7B8BA6"/>
                </a:solidFill>
                <a:latin typeface="Abadi" panose="020F0502020204030204" pitchFamily="34" charset="0"/>
                <a:cs typeface="Pretendard Light" pitchFamily="34" charset="0"/>
              </a:rPr>
              <a:t>집 안에서 쉽고 빠르게 </a:t>
            </a:r>
            <a:r>
              <a:rPr lang="en-US" sz="2000" dirty="0" err="1">
                <a:solidFill>
                  <a:srgbClr val="7B8BA6"/>
                </a:solidFill>
                <a:latin typeface="Abadi" panose="020F0502020204030204" pitchFamily="34" charset="0"/>
                <a:cs typeface="Pretendard Light" pitchFamily="34" charset="0"/>
              </a:rPr>
              <a:t>사용이</a:t>
            </a:r>
            <a:r>
              <a:rPr lang="en-US" sz="2000" dirty="0">
                <a:solidFill>
                  <a:srgbClr val="7B8BA6"/>
                </a:solidFill>
                <a:latin typeface="Abadi" panose="020F0502020204030204" pitchFamily="34" charset="0"/>
                <a:cs typeface="Pretendard Light" pitchFamily="34" charset="0"/>
              </a:rPr>
              <a:t> </a:t>
            </a:r>
            <a:r>
              <a:rPr lang="en-US" sz="2000" dirty="0" err="1">
                <a:solidFill>
                  <a:srgbClr val="7B8BA6"/>
                </a:solidFill>
                <a:latin typeface="Abadi" panose="020F0502020204030204" pitchFamily="34" charset="0"/>
                <a:cs typeface="Pretendard Light" pitchFamily="34" charset="0"/>
              </a:rPr>
              <a:t>가능하다</a:t>
            </a:r>
            <a:r>
              <a:rPr lang="en-US" sz="2000" dirty="0">
                <a:solidFill>
                  <a:srgbClr val="7B8BA6"/>
                </a:solidFill>
                <a:latin typeface="Abadi" panose="020F0502020204030204" pitchFamily="34" charset="0"/>
                <a:cs typeface="Pretendard Light" pitchFamily="34" charset="0"/>
              </a:rPr>
              <a:t>.</a:t>
            </a:r>
            <a:endParaRPr lang="en-US" dirty="0"/>
          </a:p>
        </p:txBody>
      </p:sp>
      <p:grpSp>
        <p:nvGrpSpPr>
          <p:cNvPr id="1015" name="그룹 1015"/>
          <p:cNvGrpSpPr/>
          <p:nvPr/>
        </p:nvGrpSpPr>
        <p:grpSpPr>
          <a:xfrm>
            <a:off x="1033617" y="3999570"/>
            <a:ext cx="5298368" cy="1882610"/>
            <a:chOff x="11964579" y="3676271"/>
            <a:chExt cx="5180952" cy="2259215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64579" y="3676271"/>
              <a:ext cx="5180952" cy="2259215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 rot="10800000">
            <a:off x="2109465" y="4773772"/>
            <a:ext cx="4710845" cy="141590"/>
            <a:chOff x="11401326" y="4666747"/>
            <a:chExt cx="5229920" cy="152779"/>
          </a:xfrm>
        </p:grpSpPr>
        <p:pic>
          <p:nvPicPr>
            <p:cNvPr id="57" name="Object 5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01326" y="4666747"/>
              <a:ext cx="5229920" cy="152779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198095" y="4194884"/>
            <a:ext cx="769098" cy="621609"/>
            <a:chOff x="11959634" y="3374990"/>
            <a:chExt cx="769098" cy="621609"/>
          </a:xfrm>
        </p:grpSpPr>
        <p:grpSp>
          <p:nvGrpSpPr>
            <p:cNvPr id="1019" name="그룹 1019"/>
            <p:cNvGrpSpPr/>
            <p:nvPr/>
          </p:nvGrpSpPr>
          <p:grpSpPr>
            <a:xfrm>
              <a:off x="11959634" y="3374990"/>
              <a:ext cx="769098" cy="621609"/>
              <a:chOff x="11959634" y="3374990"/>
              <a:chExt cx="769098" cy="621609"/>
            </a:xfrm>
          </p:grpSpPr>
          <p:pic>
            <p:nvPicPr>
              <p:cNvPr id="64" name="Object 63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1959634" y="3374990"/>
                <a:ext cx="769098" cy="621609"/>
              </a:xfrm>
              <a:prstGeom prst="rect">
                <a:avLst/>
              </a:prstGeom>
            </p:spPr>
          </p:pic>
        </p:grpSp>
        <p:sp>
          <p:nvSpPr>
            <p:cNvPr id="66" name="Object 66"/>
            <p:cNvSpPr txBox="1"/>
            <p:nvPr/>
          </p:nvSpPr>
          <p:spPr>
            <a:xfrm>
              <a:off x="11783572" y="3274990"/>
              <a:ext cx="1113511" cy="8000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kern="0" spc="-100" dirty="0">
                  <a:solidFill>
                    <a:srgbClr val="EEF2FC"/>
                  </a:solidFill>
                  <a:latin typeface="Pretendard Medium" pitchFamily="34" charset="0"/>
                  <a:cs typeface="Pretendard Medium" pitchFamily="34" charset="0"/>
                </a:rPr>
                <a:t>02</a:t>
              </a:r>
              <a:endParaRPr lang="en-US" dirty="0"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1651873" y="5078756"/>
            <a:ext cx="4326118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solidFill>
                  <a:srgbClr val="7B8BA6"/>
                </a:solidFill>
                <a:latin typeface="Abadi" panose="020F0502020204030204" pitchFamily="34" charset="0"/>
                <a:cs typeface="Pretendard Light" pitchFamily="34" charset="0"/>
              </a:rPr>
              <a:t>밖으로 나가기 전에, 애매한 날씨 및 환절기에 사용하기 좋다.</a:t>
            </a:r>
            <a:endParaRPr lang="en-US" dirty="0"/>
          </a:p>
        </p:txBody>
      </p:sp>
      <p:sp>
        <p:nvSpPr>
          <p:cNvPr id="77" name="Object 77"/>
          <p:cNvSpPr txBox="1"/>
          <p:nvPr/>
        </p:nvSpPr>
        <p:spPr>
          <a:xfrm>
            <a:off x="2090415" y="4283586"/>
            <a:ext cx="3831490" cy="5078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700" kern="0" spc="-100" dirty="0">
                <a:solidFill>
                  <a:srgbClr val="173460"/>
                </a:solidFill>
                <a:latin typeface="Pretendard Medium" pitchFamily="34" charset="0"/>
                <a:cs typeface="Pretendard Medium" pitchFamily="34" charset="0"/>
              </a:rPr>
              <a:t>언제 사용하면 좋을까?</a:t>
            </a:r>
            <a:endParaRPr lang="en-US" dirty="0"/>
          </a:p>
        </p:txBody>
      </p:sp>
      <p:grpSp>
        <p:nvGrpSpPr>
          <p:cNvPr id="11" name="그룹 1015">
            <a:extLst>
              <a:ext uri="{FF2B5EF4-FFF2-40B4-BE49-F238E27FC236}">
                <a16:creationId xmlns:a16="http://schemas.microsoft.com/office/drawing/2014/main" id="{7561B075-E1CD-7687-67C8-FCBF3BEC2563}"/>
              </a:ext>
            </a:extLst>
          </p:cNvPr>
          <p:cNvGrpSpPr/>
          <p:nvPr/>
        </p:nvGrpSpPr>
        <p:grpSpPr>
          <a:xfrm>
            <a:off x="1088615" y="8173927"/>
            <a:ext cx="5298368" cy="1882610"/>
            <a:chOff x="12589437" y="3678865"/>
            <a:chExt cx="5180952" cy="2259215"/>
          </a:xfrm>
        </p:grpSpPr>
        <p:pic>
          <p:nvPicPr>
            <p:cNvPr id="13" name="Object 53">
              <a:extLst>
                <a:ext uri="{FF2B5EF4-FFF2-40B4-BE49-F238E27FC236}">
                  <a16:creationId xmlns:a16="http://schemas.microsoft.com/office/drawing/2014/main" id="{3DE145A3-2F3D-5B84-DA2D-61FE02886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89437" y="3678865"/>
              <a:ext cx="5180952" cy="2259215"/>
            </a:xfrm>
            <a:prstGeom prst="rect">
              <a:avLst/>
            </a:prstGeom>
          </p:spPr>
        </p:pic>
      </p:grpSp>
      <p:grpSp>
        <p:nvGrpSpPr>
          <p:cNvPr id="2" name="그룹 1016">
            <a:extLst>
              <a:ext uri="{FF2B5EF4-FFF2-40B4-BE49-F238E27FC236}">
                <a16:creationId xmlns:a16="http://schemas.microsoft.com/office/drawing/2014/main" id="{7DEE0DD4-AFC9-D2C5-6473-42AF2761C3F9}"/>
              </a:ext>
            </a:extLst>
          </p:cNvPr>
          <p:cNvGrpSpPr/>
          <p:nvPr/>
        </p:nvGrpSpPr>
        <p:grpSpPr>
          <a:xfrm rot="10800000">
            <a:off x="2109465" y="2697544"/>
            <a:ext cx="4710845" cy="141590"/>
            <a:chOff x="11401326" y="4666747"/>
            <a:chExt cx="5229920" cy="152779"/>
          </a:xfrm>
        </p:grpSpPr>
        <p:pic>
          <p:nvPicPr>
            <p:cNvPr id="4" name="Object 56">
              <a:extLst>
                <a:ext uri="{FF2B5EF4-FFF2-40B4-BE49-F238E27FC236}">
                  <a16:creationId xmlns:a16="http://schemas.microsoft.com/office/drawing/2014/main" id="{54F0A1E3-BA23-08EC-410F-2BDA4136B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01326" y="4666747"/>
              <a:ext cx="5229920" cy="152779"/>
            </a:xfrm>
            <a:prstGeom prst="rect">
              <a:avLst/>
            </a:prstGeom>
          </p:spPr>
        </p:pic>
      </p:grpSp>
      <p:grpSp>
        <p:nvGrpSpPr>
          <p:cNvPr id="6" name="그룹 1016">
            <a:extLst>
              <a:ext uri="{FF2B5EF4-FFF2-40B4-BE49-F238E27FC236}">
                <a16:creationId xmlns:a16="http://schemas.microsoft.com/office/drawing/2014/main" id="{C62E00CB-20A1-9085-5765-ACD92BF079F2}"/>
              </a:ext>
            </a:extLst>
          </p:cNvPr>
          <p:cNvGrpSpPr/>
          <p:nvPr/>
        </p:nvGrpSpPr>
        <p:grpSpPr>
          <a:xfrm rot="10800000">
            <a:off x="2072476" y="6734075"/>
            <a:ext cx="4710845" cy="141590"/>
            <a:chOff x="11401326" y="4666747"/>
            <a:chExt cx="5229920" cy="152779"/>
          </a:xfrm>
        </p:grpSpPr>
        <p:pic>
          <p:nvPicPr>
            <p:cNvPr id="8" name="Object 56">
              <a:extLst>
                <a:ext uri="{FF2B5EF4-FFF2-40B4-BE49-F238E27FC236}">
                  <a16:creationId xmlns:a16="http://schemas.microsoft.com/office/drawing/2014/main" id="{95A83EC7-3970-A578-E1D3-0D5853A7C2A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01326" y="4666747"/>
              <a:ext cx="5229920" cy="152779"/>
            </a:xfrm>
            <a:prstGeom prst="rect">
              <a:avLst/>
            </a:prstGeom>
          </p:spPr>
        </p:pic>
      </p:grpSp>
      <p:grpSp>
        <p:nvGrpSpPr>
          <p:cNvPr id="14" name="그룹 1016">
            <a:extLst>
              <a:ext uri="{FF2B5EF4-FFF2-40B4-BE49-F238E27FC236}">
                <a16:creationId xmlns:a16="http://schemas.microsoft.com/office/drawing/2014/main" id="{49885CC1-CEE1-1DF9-85C4-D2AD48FD3C2F}"/>
              </a:ext>
            </a:extLst>
          </p:cNvPr>
          <p:cNvGrpSpPr/>
          <p:nvPr/>
        </p:nvGrpSpPr>
        <p:grpSpPr>
          <a:xfrm rot="10800000">
            <a:off x="2122951" y="8869441"/>
            <a:ext cx="4710845" cy="141590"/>
            <a:chOff x="11401326" y="4666747"/>
            <a:chExt cx="5229920" cy="152779"/>
          </a:xfrm>
        </p:grpSpPr>
        <p:pic>
          <p:nvPicPr>
            <p:cNvPr id="16" name="Object 56">
              <a:extLst>
                <a:ext uri="{FF2B5EF4-FFF2-40B4-BE49-F238E27FC236}">
                  <a16:creationId xmlns:a16="http://schemas.microsoft.com/office/drawing/2014/main" id="{E9F5E0B8-9EC5-4E3E-21EA-9730FDA41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01326" y="4666747"/>
              <a:ext cx="5229920" cy="152779"/>
            </a:xfrm>
            <a:prstGeom prst="rect">
              <a:avLst/>
            </a:prstGeom>
          </p:spPr>
        </p:pic>
      </p:grpSp>
      <p:grpSp>
        <p:nvGrpSpPr>
          <p:cNvPr id="1020" name="그룹 1020"/>
          <p:cNvGrpSpPr/>
          <p:nvPr/>
        </p:nvGrpSpPr>
        <p:grpSpPr>
          <a:xfrm>
            <a:off x="1083132" y="8129122"/>
            <a:ext cx="1113511" cy="800000"/>
            <a:chOff x="11800715" y="6520705"/>
            <a:chExt cx="1113511" cy="800000"/>
          </a:xfrm>
        </p:grpSpPr>
        <p:grpSp>
          <p:nvGrpSpPr>
            <p:cNvPr id="1021" name="그룹 1021"/>
            <p:cNvGrpSpPr/>
            <p:nvPr/>
          </p:nvGrpSpPr>
          <p:grpSpPr>
            <a:xfrm>
              <a:off x="11976776" y="6620705"/>
              <a:ext cx="769098" cy="621609"/>
              <a:chOff x="11976776" y="6620705"/>
              <a:chExt cx="769098" cy="621609"/>
            </a:xfrm>
          </p:grpSpPr>
          <p:pic>
            <p:nvPicPr>
              <p:cNvPr id="71" name="Object 70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1976776" y="6620705"/>
                <a:ext cx="769098" cy="621609"/>
              </a:xfrm>
              <a:prstGeom prst="rect">
                <a:avLst/>
              </a:prstGeom>
            </p:spPr>
          </p:pic>
        </p:grpSp>
        <p:sp>
          <p:nvSpPr>
            <p:cNvPr id="73" name="Object 73"/>
            <p:cNvSpPr txBox="1"/>
            <p:nvPr/>
          </p:nvSpPr>
          <p:spPr>
            <a:xfrm>
              <a:off x="11800715" y="6520705"/>
              <a:ext cx="1113511" cy="8000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000" kern="0" spc="-100" dirty="0">
                  <a:solidFill>
                    <a:srgbClr val="EEF2FC"/>
                  </a:solidFill>
                  <a:latin typeface="Pretendard Medium" pitchFamily="34" charset="0"/>
                  <a:cs typeface="Pretendard Medium" pitchFamily="34" charset="0"/>
                </a:rPr>
                <a:t>04</a:t>
              </a:r>
              <a:endParaRPr lang="en-US" dirty="0"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2122951" y="8368289"/>
            <a:ext cx="3866793" cy="5078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700" kern="0" spc="-100" dirty="0">
                <a:solidFill>
                  <a:srgbClr val="173460"/>
                </a:solidFill>
                <a:latin typeface="Pretendard Medium" pitchFamily="34" charset="0"/>
                <a:cs typeface="Pretendard Medium" pitchFamily="34" charset="0"/>
              </a:rPr>
              <a:t>어떻게 사용하면 좋을까?</a:t>
            </a:r>
            <a:endParaRPr lang="en-US" dirty="0"/>
          </a:p>
        </p:txBody>
      </p:sp>
      <p:sp>
        <p:nvSpPr>
          <p:cNvPr id="76" name="Object 76"/>
          <p:cNvSpPr txBox="1"/>
          <p:nvPr/>
        </p:nvSpPr>
        <p:spPr>
          <a:xfrm>
            <a:off x="1476385" y="9145782"/>
            <a:ext cx="4796892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solidFill>
                  <a:srgbClr val="7B8BA6"/>
                </a:solidFill>
                <a:latin typeface="Abadi" panose="020F0502020204030204" pitchFamily="34" charset="0"/>
                <a:cs typeface="Pretendard Light" pitchFamily="34" charset="0"/>
              </a:rPr>
              <a:t>센서를 누르면 동작하는 시스템으로 자세한 내용은 &lt;3.시스템 분석&gt;에서 소개한다.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518030B-2797-0EB1-86C9-3330F81EE4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99558" y="1384856"/>
            <a:ext cx="5791999" cy="7237348"/>
          </a:xfrm>
          <a:prstGeom prst="rect">
            <a:avLst/>
          </a:prstGeom>
        </p:spPr>
      </p:pic>
      <p:sp>
        <p:nvSpPr>
          <p:cNvPr id="27" name="Object 52">
            <a:extLst>
              <a:ext uri="{FF2B5EF4-FFF2-40B4-BE49-F238E27FC236}">
                <a16:creationId xmlns:a16="http://schemas.microsoft.com/office/drawing/2014/main" id="{D417CD21-A6A4-02CB-B4B6-58B3EB0E2E5F}"/>
              </a:ext>
            </a:extLst>
          </p:cNvPr>
          <p:cNvSpPr txBox="1"/>
          <p:nvPr/>
        </p:nvSpPr>
        <p:spPr>
          <a:xfrm>
            <a:off x="11734800" y="8850731"/>
            <a:ext cx="5209331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000" dirty="0">
                <a:solidFill>
                  <a:srgbClr val="7B8BA6"/>
                </a:solidFill>
                <a:latin typeface="Abadi" panose="020F0502020204030204" pitchFamily="34" charset="0"/>
                <a:cs typeface="Pretendard Light" pitchFamily="34" charset="0"/>
              </a:rPr>
              <a:t>그래프에 따르면</a:t>
            </a:r>
            <a:r>
              <a:rPr lang="en-US" altLang="ko-KR" sz="2000" dirty="0">
                <a:solidFill>
                  <a:srgbClr val="7B8BA6"/>
                </a:solidFill>
                <a:latin typeface="Abadi" panose="020F0502020204030204" pitchFamily="34" charset="0"/>
                <a:cs typeface="Pretendard Light" pitchFamily="34" charset="0"/>
              </a:rPr>
              <a:t>,</a:t>
            </a:r>
            <a:r>
              <a:rPr lang="ko-KR" altLang="en-US" sz="2000" dirty="0">
                <a:solidFill>
                  <a:srgbClr val="7B8BA6"/>
                </a:solidFill>
                <a:latin typeface="Abadi" panose="020F0502020204030204" pitchFamily="34" charset="0"/>
                <a:cs typeface="Pretendard Light" pitchFamily="34" charset="0"/>
              </a:rPr>
              <a:t> 환절기에 따른 감기환자가 늘어난 것을 볼 수 있다</a:t>
            </a:r>
            <a:r>
              <a:rPr lang="en-US" altLang="ko-KR" sz="2000" dirty="0">
                <a:solidFill>
                  <a:srgbClr val="7B8BA6"/>
                </a:solidFill>
                <a:latin typeface="Abadi" panose="020F0502020204030204" pitchFamily="34" charset="0"/>
                <a:cs typeface="Pretendard Light" pitchFamily="34" charset="0"/>
              </a:rPr>
              <a:t>.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9048" y="4989"/>
            <a:ext cx="18315193" cy="190476"/>
            <a:chOff x="-19048" y="4989"/>
            <a:chExt cx="18315193" cy="19047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9048" y="4989"/>
              <a:ext cx="18315193" cy="19047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134005" y="7375338"/>
            <a:ext cx="18419719" cy="2924457"/>
            <a:chOff x="-134005" y="7375338"/>
            <a:chExt cx="18419719" cy="292445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34005" y="7375338"/>
              <a:ext cx="18419719" cy="292445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11337" y="425842"/>
            <a:ext cx="9428233" cy="21333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8000" kern="0" spc="-100" dirty="0">
                <a:solidFill>
                  <a:srgbClr val="173460"/>
                </a:solidFill>
                <a:latin typeface="Pretendard" pitchFamily="34" charset="0"/>
                <a:cs typeface="Pretendard" pitchFamily="34" charset="0"/>
              </a:rPr>
              <a:t>유사 제품 분석</a:t>
            </a:r>
            <a:endParaRPr lang="en-US" dirty="0"/>
          </a:p>
        </p:txBody>
      </p:sp>
      <p:grpSp>
        <p:nvGrpSpPr>
          <p:cNvPr id="1003" name="그룹 1003"/>
          <p:cNvGrpSpPr/>
          <p:nvPr/>
        </p:nvGrpSpPr>
        <p:grpSpPr>
          <a:xfrm>
            <a:off x="2497459" y="5625600"/>
            <a:ext cx="5485714" cy="14286"/>
            <a:chOff x="2497459" y="5625600"/>
            <a:chExt cx="5485714" cy="14286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97459" y="5625600"/>
              <a:ext cx="5485714" cy="1428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505078" y="7166552"/>
            <a:ext cx="5485714" cy="14286"/>
            <a:chOff x="2505078" y="7166552"/>
            <a:chExt cx="5485714" cy="14286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5078" y="7166552"/>
              <a:ext cx="5485714" cy="1428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8151709" y="9801545"/>
            <a:ext cx="142857" cy="479351"/>
            <a:chOff x="18151709" y="9801545"/>
            <a:chExt cx="142857" cy="479351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51709" y="9801545"/>
              <a:ext cx="142857" cy="47935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6185941" y="9660839"/>
            <a:ext cx="1809524" cy="4828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800" dirty="0">
                <a:solidFill>
                  <a:srgbClr val="173460"/>
                </a:solidFill>
                <a:latin typeface="Pretendard SemiBold" pitchFamily="34" charset="0"/>
                <a:cs typeface="Pretendard SemiBold" pitchFamily="34" charset="0"/>
              </a:rPr>
              <a:t>05</a:t>
            </a:r>
            <a:endParaRPr lang="en-US" dirty="0"/>
          </a:p>
        </p:txBody>
      </p:sp>
      <p:grpSp>
        <p:nvGrpSpPr>
          <p:cNvPr id="1006" name="그룹 1006"/>
          <p:cNvGrpSpPr/>
          <p:nvPr/>
        </p:nvGrpSpPr>
        <p:grpSpPr>
          <a:xfrm>
            <a:off x="1087446" y="2867270"/>
            <a:ext cx="16283483" cy="6781150"/>
            <a:chOff x="1087446" y="2867270"/>
            <a:chExt cx="16283483" cy="6781150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7446" y="2867270"/>
              <a:ext cx="16283483" cy="6781150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089081" y="2867270"/>
            <a:ext cx="16281847" cy="961563"/>
            <a:chOff x="1089081" y="2867270"/>
            <a:chExt cx="16281847" cy="961563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9081" y="2867270"/>
              <a:ext cx="16281847" cy="961563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754732" y="7386364"/>
            <a:ext cx="15148905" cy="14264"/>
            <a:chOff x="1754732" y="7386364"/>
            <a:chExt cx="15148905" cy="14264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54732" y="7386364"/>
              <a:ext cx="15148905" cy="14264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735682" y="2951540"/>
            <a:ext cx="10981688" cy="8000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dirty="0">
                <a:solidFill>
                  <a:srgbClr val="EEF2FC"/>
                </a:solidFill>
                <a:latin typeface="Pretendard Medium" pitchFamily="34" charset="0"/>
                <a:cs typeface="Pretendard Medium" pitchFamily="34" charset="0"/>
              </a:rPr>
              <a:t>유사 제품 : 미세먼지 감지 시 값을 측정하는 창문 </a:t>
            </a:r>
            <a:endParaRPr lang="en-US" dirty="0"/>
          </a:p>
        </p:txBody>
      </p:sp>
      <p:sp>
        <p:nvSpPr>
          <p:cNvPr id="29" name="Object 29"/>
          <p:cNvSpPr txBox="1"/>
          <p:nvPr/>
        </p:nvSpPr>
        <p:spPr>
          <a:xfrm>
            <a:off x="2902231" y="4336398"/>
            <a:ext cx="730857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유사 제품1의 기능은 미세먼지를 감지 시  값을 측정해주고 문을 자동으로 열고 닫게  해주는 창문이다.</a:t>
            </a:r>
            <a:endParaRPr lang="en-US" dirty="0"/>
          </a:p>
        </p:txBody>
      </p:sp>
      <p:grpSp>
        <p:nvGrpSpPr>
          <p:cNvPr id="1009" name="그룹 1009"/>
          <p:cNvGrpSpPr/>
          <p:nvPr/>
        </p:nvGrpSpPr>
        <p:grpSpPr>
          <a:xfrm>
            <a:off x="1851082" y="4131178"/>
            <a:ext cx="625015" cy="417494"/>
            <a:chOff x="1851082" y="4131178"/>
            <a:chExt cx="625015" cy="417494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51082" y="4131178"/>
              <a:ext cx="625015" cy="417494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0439857" y="4109816"/>
            <a:ext cx="6055137" cy="2677676"/>
            <a:chOff x="10439857" y="4109816"/>
            <a:chExt cx="6055137" cy="2677676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439857" y="4109816"/>
              <a:ext cx="6055137" cy="2677676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7983330" y="8452407"/>
            <a:ext cx="8468947" cy="14264"/>
            <a:chOff x="7983330" y="8452407"/>
            <a:chExt cx="8468947" cy="14264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83330" y="8452407"/>
              <a:ext cx="8468947" cy="14264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6821558" y="8539513"/>
            <a:ext cx="1955880" cy="14264"/>
            <a:chOff x="6821558" y="8539513"/>
            <a:chExt cx="1955880" cy="14264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 rot="5400000">
              <a:off x="6821558" y="8539513"/>
              <a:ext cx="1955880" cy="14264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1849236" y="398067"/>
            <a:ext cx="6046113" cy="4828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800" dirty="0">
                <a:solidFill>
                  <a:srgbClr val="173460"/>
                </a:solidFill>
                <a:latin typeface="Pretendard SemiBold" pitchFamily="34" charset="0"/>
                <a:cs typeface="Pretendard SemiBold" pitchFamily="34" charset="0"/>
              </a:rPr>
              <a:t>ANALYSES OF SIMILAR PRODUCTS</a:t>
            </a:r>
            <a:endParaRPr lang="en-US" dirty="0"/>
          </a:p>
        </p:txBody>
      </p:sp>
      <p:sp>
        <p:nvSpPr>
          <p:cNvPr id="43" name="Object 43"/>
          <p:cNvSpPr txBox="1"/>
          <p:nvPr/>
        </p:nvSpPr>
        <p:spPr>
          <a:xfrm>
            <a:off x="2902230" y="5313737"/>
            <a:ext cx="6622842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u="sng" dirty="0">
                <a:solidFill>
                  <a:srgbClr val="7B8BA6"/>
                </a:solidFill>
                <a:latin typeface="Abadi" panose="020F0502020204030204" pitchFamily="34" charset="0"/>
                <a:cs typeface="Pretendard Light" pitchFamily="34" charset="0"/>
              </a:rPr>
              <a:t>미세먼지 값이 100미만일 때</a:t>
            </a:r>
            <a:r>
              <a:rPr lang="en-US" sz="2000" dirty="0">
                <a:solidFill>
                  <a:srgbClr val="7B8BA6"/>
                </a:solidFill>
                <a:latin typeface="Abadi" panose="020F0502020204030204" pitchFamily="34" charset="0"/>
                <a:cs typeface="Pretendard Light" pitchFamily="34" charset="0"/>
              </a:rPr>
              <a:t>, LCD 화면에 온도, 습도, 현재 미세먼지의 값을 보여주고, </a:t>
            </a:r>
            <a:r>
              <a:rPr lang="en-US" sz="2000" u="sng" dirty="0">
                <a:solidFill>
                  <a:srgbClr val="7B8BA6"/>
                </a:solidFill>
                <a:latin typeface="Abadi" panose="020F0502020204030204" pitchFamily="34" charset="0"/>
                <a:cs typeface="Pretendard Light" pitchFamily="34" charset="0"/>
              </a:rPr>
              <a:t>창문을 열어줌.</a:t>
            </a:r>
          </a:p>
          <a:p>
            <a:r>
              <a:rPr lang="en-US" sz="2000" u="sng" dirty="0">
                <a:solidFill>
                  <a:srgbClr val="7B8BA6"/>
                </a:solidFill>
                <a:latin typeface="Abadi" panose="020F0502020204030204" pitchFamily="34" charset="0"/>
                <a:cs typeface="Pretendard Light" pitchFamily="34" charset="0"/>
              </a:rPr>
              <a:t>미세먼지 값이 100초과일 때</a:t>
            </a:r>
            <a:r>
              <a:rPr lang="en-US" sz="2000" dirty="0">
                <a:solidFill>
                  <a:srgbClr val="7B8BA6"/>
                </a:solidFill>
                <a:latin typeface="Abadi" panose="020F0502020204030204" pitchFamily="34" charset="0"/>
                <a:cs typeface="Pretendard Light" pitchFamily="34" charset="0"/>
              </a:rPr>
              <a:t>, 마찬가지로 LCD 화면에 온도, 습도, 현재 미세먼지의 값을 보여주고, </a:t>
            </a:r>
            <a:r>
              <a:rPr lang="en-US" sz="2000" u="sng" dirty="0">
                <a:solidFill>
                  <a:srgbClr val="7B8BA6"/>
                </a:solidFill>
                <a:latin typeface="Abadi" panose="020F0502020204030204" pitchFamily="34" charset="0"/>
                <a:cs typeface="Pretendard Light" pitchFamily="34" charset="0"/>
              </a:rPr>
              <a:t>창문을 닫아줌.</a:t>
            </a:r>
            <a:endParaRPr lang="en-US" dirty="0"/>
          </a:p>
        </p:txBody>
      </p:sp>
      <p:sp>
        <p:nvSpPr>
          <p:cNvPr id="44" name="Object 44"/>
          <p:cNvSpPr txBox="1"/>
          <p:nvPr/>
        </p:nvSpPr>
        <p:spPr>
          <a:xfrm>
            <a:off x="12487783" y="6866754"/>
            <a:ext cx="272788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solidFill>
                  <a:srgbClr val="7B8BA6"/>
                </a:solidFill>
                <a:latin typeface="Abadi" panose="020F0502020204030204" pitchFamily="34" charset="0"/>
                <a:cs typeface="Pretendard Light" pitchFamily="34" charset="0"/>
              </a:rPr>
              <a:t>&lt;일부 자료화면&gt;</a:t>
            </a:r>
            <a:endParaRPr lang="en-US" dirty="0"/>
          </a:p>
        </p:txBody>
      </p:sp>
      <p:sp>
        <p:nvSpPr>
          <p:cNvPr id="45" name="Object 45"/>
          <p:cNvSpPr txBox="1"/>
          <p:nvPr/>
        </p:nvSpPr>
        <p:spPr>
          <a:xfrm>
            <a:off x="2023874" y="7675124"/>
            <a:ext cx="964932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예상 가격 : 약 123,400원</a:t>
            </a:r>
            <a:endParaRPr lang="en-US" dirty="0"/>
          </a:p>
        </p:txBody>
      </p:sp>
      <p:sp>
        <p:nvSpPr>
          <p:cNvPr id="46" name="Object 46"/>
          <p:cNvSpPr txBox="1"/>
          <p:nvPr/>
        </p:nvSpPr>
        <p:spPr>
          <a:xfrm>
            <a:off x="2011209" y="8324566"/>
            <a:ext cx="4770591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solidFill>
                  <a:srgbClr val="7B8BA6"/>
                </a:solidFill>
                <a:latin typeface="Abadi" panose="020F0502020204030204" pitchFamily="34" charset="0"/>
                <a:cs typeface="Pretendard Light" pitchFamily="34" charset="0"/>
              </a:rPr>
              <a:t>LCD 1602 I2C용, DHT11 온습도센서, 미세먼지 센서, 스텝모터, 창문 가격</a:t>
            </a:r>
            <a:endParaRPr lang="en-US" dirty="0"/>
          </a:p>
        </p:txBody>
      </p:sp>
      <p:sp>
        <p:nvSpPr>
          <p:cNvPr id="47" name="Object 47"/>
          <p:cNvSpPr txBox="1"/>
          <p:nvPr/>
        </p:nvSpPr>
        <p:spPr>
          <a:xfrm>
            <a:off x="8247936" y="7604743"/>
            <a:ext cx="874466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장점: 미세먼지를 측정해 창문을 자동으로 열고 닫고 할 수 있다. 온습도 측정을 통해 날씨를 알 수도 있다.</a:t>
            </a:r>
            <a:endParaRPr lang="en-US" dirty="0"/>
          </a:p>
        </p:txBody>
      </p:sp>
      <p:sp>
        <p:nvSpPr>
          <p:cNvPr id="48" name="Object 48"/>
          <p:cNvSpPr txBox="1"/>
          <p:nvPr/>
        </p:nvSpPr>
        <p:spPr>
          <a:xfrm>
            <a:off x="8240316" y="8536353"/>
            <a:ext cx="8388661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단점: 온습도에 대해 알 수 있지만, 날씨에 대한 옷 차림 여부를 파악하기 힘들다. 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9048" y="4989"/>
            <a:ext cx="18315193" cy="190476"/>
            <a:chOff x="-19048" y="4989"/>
            <a:chExt cx="18315193" cy="19047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9048" y="4989"/>
              <a:ext cx="18315193" cy="19047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62000" y="566677"/>
            <a:ext cx="8762582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8000" kern="0" spc="-100" dirty="0">
                <a:solidFill>
                  <a:srgbClr val="173460"/>
                </a:solidFill>
                <a:latin typeface="Pretendard" pitchFamily="34" charset="0"/>
                <a:cs typeface="Pretendard" pitchFamily="34" charset="0"/>
              </a:rPr>
              <a:t>유사 제품 분석</a:t>
            </a:r>
            <a:endParaRPr lang="en-US" dirty="0"/>
          </a:p>
        </p:txBody>
      </p:sp>
      <p:grpSp>
        <p:nvGrpSpPr>
          <p:cNvPr id="1003" name="그룹 1003"/>
          <p:cNvGrpSpPr/>
          <p:nvPr/>
        </p:nvGrpSpPr>
        <p:grpSpPr>
          <a:xfrm>
            <a:off x="2497459" y="5625600"/>
            <a:ext cx="5485714" cy="14286"/>
            <a:chOff x="2497459" y="5625600"/>
            <a:chExt cx="5485714" cy="14286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97459" y="5625600"/>
              <a:ext cx="5485714" cy="1428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505078" y="7166552"/>
            <a:ext cx="5485714" cy="14286"/>
            <a:chOff x="2505078" y="7166552"/>
            <a:chExt cx="5485714" cy="14286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05078" y="7166552"/>
              <a:ext cx="5485714" cy="1428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8151709" y="9801545"/>
            <a:ext cx="142857" cy="479351"/>
            <a:chOff x="18151709" y="9801545"/>
            <a:chExt cx="142857" cy="479351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151709" y="9801545"/>
              <a:ext cx="142857" cy="47935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6185941" y="9717601"/>
            <a:ext cx="180952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800" dirty="0">
                <a:solidFill>
                  <a:srgbClr val="173460"/>
                </a:solidFill>
                <a:latin typeface="Pretendard SemiBold" pitchFamily="34" charset="0"/>
                <a:cs typeface="Pretendard SemiBold" pitchFamily="34" charset="0"/>
              </a:rPr>
              <a:t>06</a:t>
            </a:r>
            <a:endParaRPr lang="en-US" dirty="0"/>
          </a:p>
        </p:txBody>
      </p:sp>
      <p:sp>
        <p:nvSpPr>
          <p:cNvPr id="42" name="Object 42"/>
          <p:cNvSpPr txBox="1"/>
          <p:nvPr/>
        </p:nvSpPr>
        <p:spPr>
          <a:xfrm>
            <a:off x="11849236" y="398067"/>
            <a:ext cx="6046113" cy="4828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800" dirty="0">
                <a:solidFill>
                  <a:srgbClr val="173460"/>
                </a:solidFill>
                <a:latin typeface="Pretendard SemiBold" pitchFamily="34" charset="0"/>
                <a:cs typeface="Pretendard SemiBold" pitchFamily="34" charset="0"/>
              </a:rPr>
              <a:t>ANALYSES OF SIMILAR PRODUCTS</a:t>
            </a:r>
            <a:endParaRPr lang="en-US" dirty="0"/>
          </a:p>
        </p:txBody>
      </p:sp>
      <p:sp>
        <p:nvSpPr>
          <p:cNvPr id="7" name="Object 29">
            <a:extLst>
              <a:ext uri="{FF2B5EF4-FFF2-40B4-BE49-F238E27FC236}">
                <a16:creationId xmlns:a16="http://schemas.microsoft.com/office/drawing/2014/main" id="{59980D55-512C-6BEE-3CFF-72DCB4CBDE90}"/>
              </a:ext>
            </a:extLst>
          </p:cNvPr>
          <p:cNvSpPr txBox="1"/>
          <p:nvPr/>
        </p:nvSpPr>
        <p:spPr>
          <a:xfrm>
            <a:off x="859025" y="2000329"/>
            <a:ext cx="910656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8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특허청 유사제품 사례</a:t>
            </a:r>
            <a:r>
              <a:rPr lang="en-US" altLang="ko-KR" sz="28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) </a:t>
            </a:r>
            <a:r>
              <a:rPr lang="ko-KR" altLang="en-US" sz="28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스마트 창문 제어 및 시스템 방법</a:t>
            </a:r>
            <a:endParaRPr lang="en-US" sz="20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1CCC86D-6E16-14FF-D8DC-B8A0D1DE01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9363" y="3526995"/>
            <a:ext cx="2876495" cy="45381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6615B2E-F08E-DEDB-F02C-404B17575E19}"/>
              </a:ext>
            </a:extLst>
          </p:cNvPr>
          <p:cNvSpPr txBox="1"/>
          <p:nvPr/>
        </p:nvSpPr>
        <p:spPr>
          <a:xfrm>
            <a:off x="10974054" y="8494414"/>
            <a:ext cx="3687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&lt;</a:t>
            </a:r>
            <a:r>
              <a:rPr lang="ko-KR" altLang="en-US" sz="2400" dirty="0"/>
              <a:t>휴대폰에서 실행한 화면</a:t>
            </a:r>
            <a:r>
              <a:rPr lang="en-US" altLang="ko-KR" sz="2400" dirty="0"/>
              <a:t>&gt;</a:t>
            </a:r>
            <a:endParaRPr lang="ko-KR" altLang="en-US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0A42DE-3B55-1ECC-1F94-911E51BF3A36}"/>
              </a:ext>
            </a:extLst>
          </p:cNvPr>
          <p:cNvSpPr txBox="1"/>
          <p:nvPr/>
        </p:nvSpPr>
        <p:spPr>
          <a:xfrm>
            <a:off x="859025" y="2591509"/>
            <a:ext cx="816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실외의 </a:t>
            </a:r>
            <a:r>
              <a:rPr lang="ko-KR" altLang="en-US" dirty="0" err="1"/>
              <a:t>온습도</a:t>
            </a:r>
            <a:r>
              <a:rPr lang="en-US" altLang="ko-KR" dirty="0"/>
              <a:t>, </a:t>
            </a:r>
            <a:r>
              <a:rPr lang="ko-KR" altLang="en-US" dirty="0"/>
              <a:t>미세먼지 농도를 센서 값으로 측정하며</a:t>
            </a:r>
            <a:r>
              <a:rPr lang="en-US" altLang="ko-KR" dirty="0"/>
              <a:t>, </a:t>
            </a:r>
            <a:r>
              <a:rPr lang="ko-KR" altLang="en-US" dirty="0"/>
              <a:t>창문 제어 명령을 수신하면 창문 개폐를 제어하는 창문 제어 장치를 포함한다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7B244A3A-CA75-40CC-CF45-38F02B0FFD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5700" y="3348053"/>
            <a:ext cx="5094027" cy="2493013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B37F3FB6-3824-4660-08E9-C65A43A0DE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20529" y="3237840"/>
            <a:ext cx="3052607" cy="5096809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49F81C27-813A-E37B-5057-F0AE5F3F50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0405" y="3526995"/>
            <a:ext cx="3226351" cy="4667564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E3611AD6-30E3-D02C-8181-5D8F5BD4C2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1222" y="6044789"/>
            <a:ext cx="5181600" cy="2859158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06034A20-1DE3-3699-6DDC-35E8351FCB24}"/>
              </a:ext>
            </a:extLst>
          </p:cNvPr>
          <p:cNvSpPr txBox="1"/>
          <p:nvPr/>
        </p:nvSpPr>
        <p:spPr>
          <a:xfrm>
            <a:off x="2895600" y="9151202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&lt; </a:t>
            </a:r>
            <a:r>
              <a:rPr lang="ko-KR" altLang="en-US" sz="2400" dirty="0"/>
              <a:t>시스템 구조도 </a:t>
            </a:r>
            <a:r>
              <a:rPr lang="en-US" altLang="ko-KR" sz="2400" dirty="0"/>
              <a:t>&gt;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81409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9048" y="4989"/>
            <a:ext cx="18315193" cy="190476"/>
            <a:chOff x="-19048" y="4989"/>
            <a:chExt cx="18315193" cy="19047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9048" y="4989"/>
              <a:ext cx="18315193" cy="19047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45682" y="1599904"/>
            <a:ext cx="183639" cy="824722"/>
            <a:chOff x="446434" y="1777511"/>
            <a:chExt cx="183639" cy="824722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434" y="1777511"/>
              <a:ext cx="183639" cy="82472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68168" y="85434"/>
            <a:ext cx="9428233" cy="21333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8000" kern="0" spc="-100" dirty="0">
                <a:solidFill>
                  <a:srgbClr val="173460"/>
                </a:solidFill>
                <a:latin typeface="Pretendard" pitchFamily="34" charset="0"/>
                <a:cs typeface="Pretendard" pitchFamily="34" charset="0"/>
              </a:rPr>
              <a:t>시스템 분석</a:t>
            </a:r>
            <a:endParaRPr lang="en-US" dirty="0"/>
          </a:p>
        </p:txBody>
      </p:sp>
      <p:sp>
        <p:nvSpPr>
          <p:cNvPr id="15" name="Object 15"/>
          <p:cNvSpPr txBox="1"/>
          <p:nvPr/>
        </p:nvSpPr>
        <p:spPr>
          <a:xfrm>
            <a:off x="774492" y="1796976"/>
            <a:ext cx="23495512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기존 제품과 차별점 : 온</a:t>
            </a:r>
            <a:r>
              <a:rPr lang="ko-KR" altLang="en-US" sz="24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습</a:t>
            </a:r>
            <a:r>
              <a:rPr lang="en-US" sz="24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도 센서, </a:t>
            </a:r>
            <a:r>
              <a:rPr lang="en-US" sz="2400" dirty="0" err="1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미세먼지</a:t>
            </a:r>
            <a:r>
              <a:rPr lang="en-US" sz="24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 </a:t>
            </a:r>
            <a:r>
              <a:rPr lang="en-US" sz="2400" dirty="0" err="1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센서를</a:t>
            </a:r>
            <a:r>
              <a:rPr lang="en-US" sz="24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 이용해 블루투스와 앱 인벤터로 날씨에 대한 옷차림을 알려준다.</a:t>
            </a:r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F4B11A2-5A7E-B701-1A7E-D52CF48984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53" y="2705100"/>
            <a:ext cx="9285433" cy="636779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1C8BA8D-1A15-3E23-8FDE-38D7C14E62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2705100"/>
            <a:ext cx="3393039" cy="669182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E3B4923-0152-636D-1B8C-E390C6A646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44600" y="2739571"/>
            <a:ext cx="1448002" cy="4572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08AE77-FDF8-6BA8-D5E8-51B35289B059}"/>
              </a:ext>
            </a:extLst>
          </p:cNvPr>
          <p:cNvSpPr txBox="1"/>
          <p:nvPr/>
        </p:nvSpPr>
        <p:spPr>
          <a:xfrm>
            <a:off x="13931900" y="3259246"/>
            <a:ext cx="39769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위 버튼을 </a:t>
            </a:r>
            <a:r>
              <a:rPr lang="ko-KR" altLang="en-US" dirty="0" err="1"/>
              <a:t>클릭시</a:t>
            </a:r>
            <a:r>
              <a:rPr lang="en-US" altLang="ko-KR" dirty="0"/>
              <a:t>, </a:t>
            </a:r>
            <a:r>
              <a:rPr lang="ko-KR" altLang="en-US" dirty="0" err="1"/>
              <a:t>온습도</a:t>
            </a:r>
            <a:r>
              <a:rPr lang="en-US" altLang="ko-KR" dirty="0"/>
              <a:t>, </a:t>
            </a:r>
            <a:r>
              <a:rPr lang="ko-KR" altLang="en-US" dirty="0"/>
              <a:t>미세먼지 농도 값을 알려주고 오늘의 날씨에 대한 옷차림을 알려줌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습도</a:t>
            </a:r>
            <a:r>
              <a:rPr lang="en-US" altLang="ko-KR" dirty="0"/>
              <a:t>, </a:t>
            </a:r>
            <a:r>
              <a:rPr lang="ko-KR" altLang="en-US" dirty="0"/>
              <a:t>미세먼지는 해당 값이 높으면 사진이 표시됨</a:t>
            </a:r>
            <a:r>
              <a:rPr lang="en-US" altLang="ko-KR" dirty="0"/>
              <a:t>.)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A3A8C9-757E-AA10-0300-5A78BC4D3FC7}"/>
              </a:ext>
            </a:extLst>
          </p:cNvPr>
          <p:cNvSpPr txBox="1"/>
          <p:nvPr/>
        </p:nvSpPr>
        <p:spPr>
          <a:xfrm>
            <a:off x="13789459" y="6069568"/>
            <a:ext cx="450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위 그래프는 시간에 따른 온도 값을 나타냄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D1CA184-1F93-D607-0704-FE7529C466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68400" y="4933804"/>
            <a:ext cx="4220164" cy="1047896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C8FE9E0-59B8-6E3F-6BBD-BEA576F2D90A}"/>
              </a:ext>
            </a:extLst>
          </p:cNvPr>
          <p:cNvCxnSpPr>
            <a:cxnSpLocks/>
          </p:cNvCxnSpPr>
          <p:nvPr/>
        </p:nvCxnSpPr>
        <p:spPr>
          <a:xfrm>
            <a:off x="13789459" y="4736574"/>
            <a:ext cx="43499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6867BD4-FBD9-8067-CD66-BABC62C0622A}"/>
              </a:ext>
            </a:extLst>
          </p:cNvPr>
          <p:cNvCxnSpPr>
            <a:cxnSpLocks/>
          </p:cNvCxnSpPr>
          <p:nvPr/>
        </p:nvCxnSpPr>
        <p:spPr>
          <a:xfrm>
            <a:off x="13789459" y="6591300"/>
            <a:ext cx="43499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47445688-2FDD-6F10-24E8-8B0350C638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53919" y="6844025"/>
            <a:ext cx="4207464" cy="73787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5E40F36-A23C-5578-61FA-71FFDECEB505}"/>
              </a:ext>
            </a:extLst>
          </p:cNvPr>
          <p:cNvSpPr txBox="1"/>
          <p:nvPr/>
        </p:nvSpPr>
        <p:spPr>
          <a:xfrm>
            <a:off x="13789459" y="7773769"/>
            <a:ext cx="4363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자동 </a:t>
            </a:r>
            <a:r>
              <a:rPr lang="ko-KR" altLang="en-US" dirty="0" err="1"/>
              <a:t>토글</a:t>
            </a:r>
            <a:r>
              <a:rPr lang="ko-KR" altLang="en-US" dirty="0"/>
              <a:t> 버튼 </a:t>
            </a:r>
            <a:r>
              <a:rPr lang="en-US" altLang="ko-KR" dirty="0"/>
              <a:t>ON</a:t>
            </a:r>
            <a:r>
              <a:rPr lang="ko-KR" altLang="en-US" dirty="0"/>
              <a:t>시</a:t>
            </a:r>
            <a:r>
              <a:rPr lang="en-US" altLang="ko-KR" dirty="0"/>
              <a:t>, </a:t>
            </a:r>
            <a:r>
              <a:rPr lang="ko-KR" altLang="en-US" dirty="0"/>
              <a:t>습도와 미세먼지 값이 높으면 자동으로 열리고 닫힘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BBC58E-2031-4E5C-9D18-461513673D0F}"/>
              </a:ext>
            </a:extLst>
          </p:cNvPr>
          <p:cNvSpPr txBox="1"/>
          <p:nvPr/>
        </p:nvSpPr>
        <p:spPr>
          <a:xfrm>
            <a:off x="13775939" y="8535769"/>
            <a:ext cx="4363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자동 </a:t>
            </a:r>
            <a:r>
              <a:rPr lang="ko-KR" altLang="en-US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토글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버튼 </a:t>
            </a:r>
            <a:r>
              <a:rPr lang="en-US" altLang="ko-KR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OFF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</a:t>
            </a:r>
            <a:r>
              <a:rPr lang="en-US" altLang="ko-KR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창문을 수동으로 열리고 닫히게 할 수 있음</a:t>
            </a:r>
            <a:r>
              <a:rPr lang="en-US" altLang="ko-KR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9048" y="4989"/>
            <a:ext cx="18315193" cy="190476"/>
            <a:chOff x="-19048" y="4989"/>
            <a:chExt cx="18315193" cy="19047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9048" y="4989"/>
              <a:ext cx="18315193" cy="19047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09600" y="484059"/>
            <a:ext cx="9428233" cy="21333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8000" kern="0" spc="-100" dirty="0">
                <a:solidFill>
                  <a:srgbClr val="173460"/>
                </a:solidFill>
                <a:latin typeface="Pretendard" pitchFamily="34" charset="0"/>
                <a:cs typeface="Pretendard" pitchFamily="34" charset="0"/>
              </a:rPr>
              <a:t>시스템 분석</a:t>
            </a:r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33878ED-16B9-9F69-7ED9-67838FC24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13" y="2617409"/>
            <a:ext cx="8591335" cy="54962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98FBB2-30C0-A58B-804A-F86D37167FBA}"/>
              </a:ext>
            </a:extLst>
          </p:cNvPr>
          <p:cNvSpPr txBox="1"/>
          <p:nvPr/>
        </p:nvSpPr>
        <p:spPr>
          <a:xfrm>
            <a:off x="6781800" y="8295807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&lt;</a:t>
            </a:r>
            <a:r>
              <a:rPr lang="ko-KR" altLang="en-US" sz="3200" dirty="0"/>
              <a:t>전체 시스템 구성도</a:t>
            </a:r>
            <a:r>
              <a:rPr lang="en-US" altLang="ko-KR" sz="3200" dirty="0"/>
              <a:t>&gt;</a:t>
            </a:r>
            <a:endParaRPr lang="ko-KR" altLang="en-US" sz="3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3DA4B82-31DF-A321-2CD0-6EAC0D8572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9454" y="2799573"/>
            <a:ext cx="8452746" cy="51816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127F56-04AD-410D-CDD3-5265732321A5}"/>
              </a:ext>
            </a:extLst>
          </p:cNvPr>
          <p:cNvSpPr txBox="1"/>
          <p:nvPr/>
        </p:nvSpPr>
        <p:spPr>
          <a:xfrm>
            <a:off x="9138547" y="2173357"/>
            <a:ext cx="8452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</a:t>
            </a:r>
            <a:r>
              <a:rPr lang="ko-KR" altLang="en-US" dirty="0"/>
              <a:t>모드링크</a:t>
            </a:r>
            <a:r>
              <a:rPr lang="en-US" altLang="ko-KR" dirty="0"/>
              <a:t>: </a:t>
            </a:r>
            <a:r>
              <a:rPr lang="ko-KR" altLang="en-US" dirty="0"/>
              <a:t>연산 처리해 스텝 모터의 구동을 단속 제어하고</a:t>
            </a:r>
            <a:r>
              <a:rPr lang="en-US" altLang="ko-KR" dirty="0"/>
              <a:t>, </a:t>
            </a:r>
            <a:r>
              <a:rPr lang="ko-KR" altLang="en-US" dirty="0"/>
              <a:t>사용자가 원격지에서 창문 개폐가 가능하도록 와이파이 링크 및 휴대폰 앱과 연동되게 하는 것</a:t>
            </a:r>
          </a:p>
        </p:txBody>
      </p:sp>
    </p:spTree>
    <p:extLst>
      <p:ext uri="{BB962C8B-B14F-4D97-AF65-F5344CB8AC3E}">
        <p14:creationId xmlns:p14="http://schemas.microsoft.com/office/powerpoint/2010/main" val="1105851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9048" y="4989"/>
            <a:ext cx="18315193" cy="190476"/>
            <a:chOff x="-19048" y="4989"/>
            <a:chExt cx="18315193" cy="19047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9048" y="4989"/>
              <a:ext cx="18315193" cy="19047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693707" y="1872719"/>
            <a:ext cx="7534965" cy="2640145"/>
            <a:chOff x="693707" y="1872719"/>
            <a:chExt cx="7534965" cy="264014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707" y="1872719"/>
              <a:ext cx="7534965" cy="2640145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8151709" y="9801545"/>
            <a:ext cx="142857" cy="479351"/>
            <a:chOff x="18151709" y="9801545"/>
            <a:chExt cx="142857" cy="479351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151709" y="9801545"/>
              <a:ext cx="142857" cy="479351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8883188" y="1844148"/>
            <a:ext cx="8783479" cy="2691589"/>
            <a:chOff x="8883188" y="1844148"/>
            <a:chExt cx="8783479" cy="2691589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83188" y="1844148"/>
              <a:ext cx="8783479" cy="2691589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672346" y="4790568"/>
            <a:ext cx="6236688" cy="2943209"/>
            <a:chOff x="672345" y="4790568"/>
            <a:chExt cx="7556327" cy="2943209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2345" y="4790568"/>
              <a:ext cx="7556327" cy="2943209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1970186" y="4790568"/>
            <a:ext cx="5696481" cy="2943209"/>
            <a:chOff x="8883188" y="4790568"/>
            <a:chExt cx="8783479" cy="2943209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83188" y="4790568"/>
              <a:ext cx="8783479" cy="2943209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7437583" y="7911580"/>
            <a:ext cx="4881553" cy="2041612"/>
            <a:chOff x="7437583" y="7911580"/>
            <a:chExt cx="4881553" cy="2041612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37583" y="7911580"/>
              <a:ext cx="4881553" cy="2041612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6185941" y="9660839"/>
            <a:ext cx="1809524" cy="4828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800" dirty="0">
                <a:solidFill>
                  <a:srgbClr val="173460"/>
                </a:solidFill>
                <a:latin typeface="Pretendard SemiBold" pitchFamily="34" charset="0"/>
                <a:cs typeface="Pretendard SemiBold" pitchFamily="34" charset="0"/>
              </a:rPr>
              <a:t>06</a:t>
            </a:r>
            <a:endParaRPr lang="en-US" dirty="0"/>
          </a:p>
        </p:txBody>
      </p:sp>
      <p:sp>
        <p:nvSpPr>
          <p:cNvPr id="36" name="Object 36"/>
          <p:cNvSpPr txBox="1"/>
          <p:nvPr/>
        </p:nvSpPr>
        <p:spPr>
          <a:xfrm>
            <a:off x="10302886" y="449795"/>
            <a:ext cx="7363780" cy="4828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800" dirty="0">
                <a:solidFill>
                  <a:srgbClr val="173460"/>
                </a:solidFill>
                <a:latin typeface="Pretendard SemiBold" pitchFamily="34" charset="0"/>
                <a:cs typeface="Pretendard SemiBold" pitchFamily="34" charset="0"/>
              </a:rPr>
              <a:t>COMPONENTS PRICE</a:t>
            </a:r>
            <a:endParaRPr lang="en-US" dirty="0"/>
          </a:p>
        </p:txBody>
      </p:sp>
      <p:sp>
        <p:nvSpPr>
          <p:cNvPr id="37" name="Object 37"/>
          <p:cNvSpPr txBox="1"/>
          <p:nvPr/>
        </p:nvSpPr>
        <p:spPr>
          <a:xfrm>
            <a:off x="633366" y="73566"/>
            <a:ext cx="15521686" cy="21333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8000" kern="0" spc="-100" dirty="0">
                <a:solidFill>
                  <a:srgbClr val="173460"/>
                </a:solidFill>
                <a:latin typeface="Pretendard" pitchFamily="34" charset="0"/>
                <a:cs typeface="Pretendard" pitchFamily="34" charset="0"/>
              </a:rPr>
              <a:t>필요 부품 리스트(가격)</a:t>
            </a:r>
            <a:endParaRPr lang="en-US" dirty="0"/>
          </a:p>
        </p:txBody>
      </p:sp>
      <p:grpSp>
        <p:nvGrpSpPr>
          <p:cNvPr id="1012" name="그룹 1012"/>
          <p:cNvGrpSpPr/>
          <p:nvPr/>
        </p:nvGrpSpPr>
        <p:grpSpPr>
          <a:xfrm>
            <a:off x="345461" y="7896751"/>
            <a:ext cx="6853697" cy="2052727"/>
            <a:chOff x="345461" y="7896751"/>
            <a:chExt cx="6853697" cy="2052727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5461" y="7896751"/>
              <a:ext cx="6853697" cy="2052727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532821" y="7930628"/>
            <a:ext cx="1957282" cy="1966692"/>
            <a:chOff x="532821" y="7930628"/>
            <a:chExt cx="1957282" cy="1966692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2821" y="7930628"/>
              <a:ext cx="1957282" cy="1966692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12511393" y="7918523"/>
            <a:ext cx="5155274" cy="2041612"/>
            <a:chOff x="12511393" y="7918523"/>
            <a:chExt cx="5155274" cy="2041612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511393" y="7918523"/>
              <a:ext cx="5155274" cy="2041612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7581708" y="8007285"/>
            <a:ext cx="1863745" cy="1832355"/>
            <a:chOff x="7581708" y="8007285"/>
            <a:chExt cx="1863745" cy="1832355"/>
          </a:xfrm>
        </p:grpSpPr>
        <p:pic>
          <p:nvPicPr>
            <p:cNvPr id="48" name="Object 47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81708" y="8007285"/>
              <a:ext cx="1863745" cy="1832355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2843063" y="8034643"/>
            <a:ext cx="4225253" cy="18620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4.5mm MDF판넬 </a:t>
            </a:r>
            <a:r>
              <a:rPr lang="en-US" sz="2300" b="1" dirty="0" err="1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얇은합판</a:t>
            </a:r>
            <a:r>
              <a:rPr lang="en-US" sz="23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 </a:t>
            </a:r>
            <a:r>
              <a:rPr lang="en-US" sz="2300" b="1" dirty="0" err="1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나무판자</a:t>
            </a:r>
            <a:r>
              <a:rPr lang="en-US" sz="23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 2</a:t>
            </a:r>
            <a:r>
              <a:rPr lang="ko-KR" altLang="en-US" sz="23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개</a:t>
            </a:r>
            <a:r>
              <a:rPr lang="en-US" sz="23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  (300 x 250 mm) - 11,860원</a:t>
            </a:r>
            <a:endParaRPr lang="en-US" sz="2300" dirty="0">
              <a:solidFill>
                <a:srgbClr val="173460"/>
              </a:solidFill>
              <a:latin typeface="Abadi" panose="020F0502020204030204" pitchFamily="34" charset="0"/>
              <a:cs typeface="Pretendard Light" pitchFamily="34" charset="0"/>
            </a:endParaRPr>
          </a:p>
          <a:p>
            <a:r>
              <a:rPr lang="en-US" sz="23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창문 짝, 창문 받침대에 사용할 </a:t>
            </a:r>
          </a:p>
          <a:p>
            <a:r>
              <a:rPr lang="en-US" sz="23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부분창문(유리 없음.)</a:t>
            </a:r>
            <a:endParaRPr lang="en-US" dirty="0"/>
          </a:p>
        </p:txBody>
      </p:sp>
      <p:sp>
        <p:nvSpPr>
          <p:cNvPr id="54" name="Object 54"/>
          <p:cNvSpPr txBox="1"/>
          <p:nvPr/>
        </p:nvSpPr>
        <p:spPr>
          <a:xfrm>
            <a:off x="3754209" y="2258918"/>
            <a:ext cx="3778164" cy="18620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온습도 센서 </a:t>
            </a:r>
            <a:r>
              <a:rPr lang="en-US" sz="2300" b="1" dirty="0" err="1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가격</a:t>
            </a:r>
            <a:r>
              <a:rPr lang="en-US" sz="23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 – </a:t>
            </a:r>
            <a:r>
              <a:rPr lang="en-US" altLang="ko-KR" sz="23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2,200</a:t>
            </a:r>
            <a:r>
              <a:rPr lang="en-US" sz="23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원</a:t>
            </a:r>
          </a:p>
          <a:p>
            <a:r>
              <a:rPr lang="en-US" sz="23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온도 측정 범위: </a:t>
            </a:r>
            <a:r>
              <a:rPr lang="en-US" altLang="ko-KR" sz="23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0</a:t>
            </a:r>
            <a:r>
              <a:rPr lang="en-US" sz="23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 ~ </a:t>
            </a:r>
            <a:r>
              <a:rPr lang="en-US" altLang="ko-KR" sz="23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50</a:t>
            </a:r>
            <a:r>
              <a:rPr lang="en-US" sz="23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℃</a:t>
            </a:r>
          </a:p>
          <a:p>
            <a:r>
              <a:rPr lang="en-US" sz="23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온도 측정 오차: </a:t>
            </a:r>
            <a:r>
              <a:rPr lang="en-US" altLang="ko-KR" sz="2000" b="0" i="0" dirty="0">
                <a:solidFill>
                  <a:srgbClr val="0D0D0D"/>
                </a:solidFill>
                <a:effectLst/>
                <a:latin typeface="ui-sans-serif"/>
              </a:rPr>
              <a:t>±2 </a:t>
            </a:r>
            <a:r>
              <a:rPr lang="en-US" sz="23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℃</a:t>
            </a:r>
          </a:p>
          <a:p>
            <a:r>
              <a:rPr lang="en-US" sz="23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습도 측정 범위: </a:t>
            </a:r>
            <a:r>
              <a:rPr lang="en-US" altLang="ko-KR" sz="23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2</a:t>
            </a:r>
            <a:r>
              <a:rPr lang="en-US" sz="23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0 ~ </a:t>
            </a:r>
            <a:r>
              <a:rPr lang="en-US" altLang="ko-KR" sz="23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50</a:t>
            </a:r>
            <a:r>
              <a:rPr lang="en-US" sz="23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%</a:t>
            </a:r>
          </a:p>
          <a:p>
            <a:r>
              <a:rPr lang="en-US" sz="23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습도 측정 </a:t>
            </a:r>
            <a:r>
              <a:rPr lang="en-US" sz="2300" dirty="0" err="1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오차</a:t>
            </a:r>
            <a:r>
              <a:rPr lang="en-US" sz="23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: </a:t>
            </a:r>
            <a:r>
              <a:rPr lang="en-US" altLang="ko-KR" sz="2400" b="0" i="0" dirty="0">
                <a:solidFill>
                  <a:srgbClr val="0D0D0D"/>
                </a:solidFill>
                <a:effectLst/>
                <a:latin typeface="ui-sans-serif"/>
              </a:rPr>
              <a:t>±5%</a:t>
            </a:r>
            <a:endParaRPr lang="en-US" sz="2300" dirty="0">
              <a:solidFill>
                <a:srgbClr val="173460"/>
              </a:solidFill>
              <a:latin typeface="Abadi" panose="020F0502020204030204" pitchFamily="34" charset="0"/>
              <a:cs typeface="Pretendard Light" pitchFamily="34" charset="0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2183026" y="2629698"/>
            <a:ext cx="5411268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400" b="1" i="0" dirty="0" err="1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미세먼지센서</a:t>
            </a:r>
            <a:r>
              <a:rPr lang="ko-KR" altLang="en-US" sz="2400" b="1" i="0" dirty="0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n-US" altLang="ko-KR" sz="2400" b="1" i="0" dirty="0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GP2Y1010AU0F</a:t>
            </a:r>
            <a:endParaRPr lang="en-US" sz="2400" b="1" dirty="0">
              <a:solidFill>
                <a:srgbClr val="173460"/>
              </a:solidFill>
              <a:latin typeface="Abadi" panose="020F0502020204030204" pitchFamily="34" charset="0"/>
              <a:cs typeface="Pretendard Light" pitchFamily="34" charset="0"/>
            </a:endParaRPr>
          </a:p>
          <a:p>
            <a:r>
              <a:rPr lang="en-US" sz="2400" dirty="0" err="1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측정</a:t>
            </a:r>
            <a:r>
              <a:rPr lang="en-US" sz="24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 </a:t>
            </a:r>
            <a:r>
              <a:rPr lang="en-US" sz="2400" dirty="0" err="1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범위</a:t>
            </a:r>
            <a:r>
              <a:rPr lang="en-US" sz="24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(PM): 0.5µm </a:t>
            </a:r>
            <a:r>
              <a:rPr lang="ko-KR" altLang="en-US" sz="24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이상</a:t>
            </a:r>
            <a:endParaRPr lang="en-US" sz="2400" dirty="0">
              <a:solidFill>
                <a:srgbClr val="173460"/>
              </a:solidFill>
              <a:latin typeface="Abadi" panose="020F0502020204030204" pitchFamily="34" charset="0"/>
              <a:cs typeface="Pretendard Light" pitchFamily="34" charset="0"/>
            </a:endParaRPr>
          </a:p>
          <a:p>
            <a:r>
              <a:rPr lang="ko-KR" altLang="en-US" sz="2400" dirty="0">
                <a:solidFill>
                  <a:srgbClr val="0D0D0D"/>
                </a:solidFill>
                <a:latin typeface="ui-sans-serif"/>
              </a:rPr>
              <a:t>측정 농도 범위 </a:t>
            </a:r>
            <a:r>
              <a:rPr lang="en-US" altLang="ko-KR" sz="2400" dirty="0">
                <a:solidFill>
                  <a:srgbClr val="0D0D0D"/>
                </a:solidFill>
                <a:latin typeface="ui-sans-serif"/>
              </a:rPr>
              <a:t>: </a:t>
            </a:r>
            <a:r>
              <a:rPr lang="en-US" altLang="ko-KR" sz="2400" b="0" i="0" dirty="0">
                <a:solidFill>
                  <a:srgbClr val="0D0D0D"/>
                </a:solidFill>
                <a:effectLst/>
                <a:latin typeface="ui-sans-serif"/>
              </a:rPr>
              <a:t>0 ~ 500 µg/m³</a:t>
            </a:r>
            <a:endParaRPr lang="en-US" sz="2400" dirty="0"/>
          </a:p>
        </p:txBody>
      </p:sp>
      <p:sp>
        <p:nvSpPr>
          <p:cNvPr id="57" name="Object 57"/>
          <p:cNvSpPr txBox="1"/>
          <p:nvPr/>
        </p:nvSpPr>
        <p:spPr>
          <a:xfrm>
            <a:off x="15303881" y="5528628"/>
            <a:ext cx="2241736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블루투스 </a:t>
            </a:r>
            <a:r>
              <a:rPr lang="en-US" sz="2400" b="1" dirty="0" err="1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센서</a:t>
            </a:r>
            <a:r>
              <a:rPr lang="en-US" sz="24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 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latin typeface="-apple-system"/>
              </a:rPr>
              <a:t>HC-06 </a:t>
            </a:r>
            <a:r>
              <a:rPr lang="en-US" sz="24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 - 8,500원</a:t>
            </a:r>
          </a:p>
          <a:p>
            <a:r>
              <a:rPr lang="ko-KR" altLang="en-US" sz="24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블루투스 </a:t>
            </a:r>
            <a:r>
              <a:rPr lang="en-US" altLang="ko-KR" sz="24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V2.0 </a:t>
            </a:r>
            <a:r>
              <a:rPr lang="ko-KR" altLang="en-US" sz="24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프로토콜 지원</a:t>
            </a:r>
            <a:endParaRPr lang="en-US" altLang="ko-KR" sz="2400" b="1" dirty="0">
              <a:solidFill>
                <a:srgbClr val="173460"/>
              </a:solidFill>
              <a:latin typeface="Abadi" panose="020F0502020204030204" pitchFamily="34" charset="0"/>
              <a:cs typeface="Pretendard Light" pitchFamily="34" charset="0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675745" y="8191500"/>
            <a:ext cx="2679404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투명아크릴 판(290 x 240 mm 3T, 2개) – 1,1000원</a:t>
            </a:r>
          </a:p>
          <a:p>
            <a:r>
              <a:rPr lang="en-US" sz="24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창문 유리 역할</a:t>
            </a:r>
            <a:endParaRPr lang="en-US" dirty="0"/>
          </a:p>
        </p:txBody>
      </p:sp>
      <p:sp>
        <p:nvSpPr>
          <p:cNvPr id="59" name="Object 59"/>
          <p:cNvSpPr txBox="1"/>
          <p:nvPr/>
        </p:nvSpPr>
        <p:spPr>
          <a:xfrm>
            <a:off x="14871161" y="8147556"/>
            <a:ext cx="2426239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4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톱니바퀴 패키지</a:t>
            </a:r>
            <a:r>
              <a:rPr lang="en-US" sz="24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 – 9,600원</a:t>
            </a:r>
          </a:p>
          <a:p>
            <a:r>
              <a:rPr lang="ko-KR" altLang="en-US" sz="24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창문을 자동으로 열고 닫는 역할</a:t>
            </a:r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AD91BE3-AF11-52F0-ED7C-364C8B3E573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115800" y="4943079"/>
            <a:ext cx="2966094" cy="266632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C2C7868-021E-2185-002B-2BE713CBB87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690810" y="8013104"/>
            <a:ext cx="2060054" cy="188358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FC63990-0E3C-EB1D-B188-D85C2BE1AD1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2383" y="4944366"/>
            <a:ext cx="3033866" cy="2713734"/>
          </a:xfrm>
          <a:prstGeom prst="rect">
            <a:avLst/>
          </a:prstGeom>
        </p:spPr>
      </p:pic>
      <p:sp>
        <p:nvSpPr>
          <p:cNvPr id="11" name="Object 54">
            <a:extLst>
              <a:ext uri="{FF2B5EF4-FFF2-40B4-BE49-F238E27FC236}">
                <a16:creationId xmlns:a16="http://schemas.microsoft.com/office/drawing/2014/main" id="{8C115DC3-47F2-C82B-F29B-D31555F5C64B}"/>
              </a:ext>
            </a:extLst>
          </p:cNvPr>
          <p:cNvSpPr txBox="1"/>
          <p:nvPr/>
        </p:nvSpPr>
        <p:spPr>
          <a:xfrm>
            <a:off x="3875167" y="5491413"/>
            <a:ext cx="3033866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b="0" i="0" dirty="0">
                <a:solidFill>
                  <a:srgbClr val="000000"/>
                </a:solidFill>
                <a:effectLst/>
                <a:latin typeface="Gmarket Sans"/>
              </a:rPr>
              <a:t>NEMA17 </a:t>
            </a:r>
            <a:r>
              <a:rPr lang="ko-KR" altLang="en-US" sz="24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스텝모터</a:t>
            </a:r>
            <a:r>
              <a:rPr lang="en-US" sz="24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 42</a:t>
            </a:r>
            <a:r>
              <a:rPr lang="ko-KR" altLang="en-US" sz="24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각 </a:t>
            </a:r>
            <a:r>
              <a:rPr lang="en-US" sz="2400" b="1" dirty="0" err="1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가격</a:t>
            </a:r>
            <a:r>
              <a:rPr lang="en-US" sz="24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 – 12,030원</a:t>
            </a:r>
          </a:p>
          <a:p>
            <a:r>
              <a:rPr lang="ko-KR" altLang="en-US" sz="24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정격 전압</a:t>
            </a:r>
            <a:r>
              <a:rPr lang="en-US" altLang="ko-KR" sz="24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: DC 3.6V</a:t>
            </a:r>
          </a:p>
          <a:p>
            <a:r>
              <a:rPr lang="ko-KR" altLang="en-US" sz="2400" dirty="0">
                <a:solidFill>
                  <a:srgbClr val="173460"/>
                </a:solidFill>
                <a:latin typeface="Abadi" panose="020F0502020204030204" pitchFamily="34" charset="0"/>
              </a:rPr>
              <a:t>정격 전류</a:t>
            </a:r>
            <a:r>
              <a:rPr lang="en-US" altLang="ko-KR" sz="2400" dirty="0">
                <a:solidFill>
                  <a:srgbClr val="173460"/>
                </a:solidFill>
                <a:latin typeface="Abadi" panose="020F0502020204030204" pitchFamily="34" charset="0"/>
              </a:rPr>
              <a:t>: DC 1.8A</a:t>
            </a:r>
            <a:endParaRPr lang="en-US" sz="2400" dirty="0"/>
          </a:p>
        </p:txBody>
      </p:sp>
      <p:grpSp>
        <p:nvGrpSpPr>
          <p:cNvPr id="13" name="그룹 1007">
            <a:extLst>
              <a:ext uri="{FF2B5EF4-FFF2-40B4-BE49-F238E27FC236}">
                <a16:creationId xmlns:a16="http://schemas.microsoft.com/office/drawing/2014/main" id="{5DC2E773-23A6-191A-FE31-7C3EAB6BBEF7}"/>
              </a:ext>
            </a:extLst>
          </p:cNvPr>
          <p:cNvGrpSpPr/>
          <p:nvPr/>
        </p:nvGrpSpPr>
        <p:grpSpPr>
          <a:xfrm>
            <a:off x="6997214" y="4756097"/>
            <a:ext cx="4851922" cy="2943209"/>
            <a:chOff x="672345" y="4790568"/>
            <a:chExt cx="7556327" cy="2943209"/>
          </a:xfrm>
        </p:grpSpPr>
        <p:pic>
          <p:nvPicPr>
            <p:cNvPr id="14" name="Object 20">
              <a:extLst>
                <a:ext uri="{FF2B5EF4-FFF2-40B4-BE49-F238E27FC236}">
                  <a16:creationId xmlns:a16="http://schemas.microsoft.com/office/drawing/2014/main" id="{1A081C87-64AE-0323-D425-B0D66A34D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2345" y="4790568"/>
              <a:ext cx="7556327" cy="2943209"/>
            </a:xfrm>
            <a:prstGeom prst="rect">
              <a:avLst/>
            </a:prstGeom>
          </p:spPr>
        </p:pic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57237F08-C797-B327-42CC-478721FFE48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85088" y="4848200"/>
            <a:ext cx="2338087" cy="2761207"/>
          </a:xfrm>
          <a:prstGeom prst="rect">
            <a:avLst/>
          </a:prstGeom>
        </p:spPr>
      </p:pic>
      <p:sp>
        <p:nvSpPr>
          <p:cNvPr id="22" name="Object 54">
            <a:extLst>
              <a:ext uri="{FF2B5EF4-FFF2-40B4-BE49-F238E27FC236}">
                <a16:creationId xmlns:a16="http://schemas.microsoft.com/office/drawing/2014/main" id="{587E0C82-19D4-4705-6188-C121B3D47507}"/>
              </a:ext>
            </a:extLst>
          </p:cNvPr>
          <p:cNvSpPr txBox="1"/>
          <p:nvPr/>
        </p:nvSpPr>
        <p:spPr>
          <a:xfrm>
            <a:off x="9518306" y="5627536"/>
            <a:ext cx="231811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4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플라스틱 판</a:t>
            </a:r>
            <a:r>
              <a:rPr lang="en-US" altLang="ko-KR" sz="24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/</a:t>
            </a:r>
            <a:r>
              <a:rPr lang="ko-KR" altLang="en-US" sz="2400" b="1" dirty="0" err="1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프라판</a:t>
            </a:r>
            <a:r>
              <a:rPr lang="en-US" altLang="ko-KR" sz="24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(PVC)</a:t>
            </a:r>
            <a:r>
              <a:rPr lang="en-US" sz="2400" b="1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 0.4mm– 2,200원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9272711-E6A6-D181-F471-E1DE55B10712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13431" t="26138" r="14815" b="9848"/>
          <a:stretch/>
        </p:blipFill>
        <p:spPr>
          <a:xfrm>
            <a:off x="9309585" y="2376116"/>
            <a:ext cx="2638478" cy="185388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2692A04-C2F2-B9B7-4FC4-4EB6B1144A38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l="27082" t="16948" r="17300" b="8552"/>
          <a:stretch/>
        </p:blipFill>
        <p:spPr>
          <a:xfrm>
            <a:off x="1281020" y="2206916"/>
            <a:ext cx="1525172" cy="20878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2571429"/>
            <a:ext cx="18295238" cy="7738050"/>
            <a:chOff x="0" y="2571429"/>
            <a:chExt cx="18295238" cy="7738050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571429"/>
              <a:ext cx="18295238" cy="7738050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19048" y="4989"/>
            <a:ext cx="18315193" cy="190476"/>
            <a:chOff x="-19048" y="4989"/>
            <a:chExt cx="18315193" cy="190476"/>
          </a:xfrm>
        </p:grpSpPr>
        <p:pic>
          <p:nvPicPr>
            <p:cNvPr id="2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9048" y="4989"/>
              <a:ext cx="18315193" cy="19047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11337" y="603625"/>
            <a:ext cx="9428233" cy="21333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8000" kern="0" spc="-100" dirty="0">
                <a:solidFill>
                  <a:srgbClr val="173460"/>
                </a:solidFill>
                <a:latin typeface="Pretendard" pitchFamily="34" charset="0"/>
                <a:cs typeface="Pretendard" pitchFamily="34" charset="0"/>
              </a:rPr>
              <a:t>개발 일정</a:t>
            </a:r>
            <a:endParaRPr lang="en-US" dirty="0"/>
          </a:p>
        </p:txBody>
      </p:sp>
      <p:grpSp>
        <p:nvGrpSpPr>
          <p:cNvPr id="1003" name="그룹 1003"/>
          <p:cNvGrpSpPr/>
          <p:nvPr/>
        </p:nvGrpSpPr>
        <p:grpSpPr>
          <a:xfrm>
            <a:off x="2497459" y="5625600"/>
            <a:ext cx="5485714" cy="14286"/>
            <a:chOff x="2497459" y="5625600"/>
            <a:chExt cx="5485714" cy="14286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97459" y="5625600"/>
              <a:ext cx="5485714" cy="1428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505078" y="7166552"/>
            <a:ext cx="5485714" cy="14286"/>
            <a:chOff x="2505078" y="7166552"/>
            <a:chExt cx="5485714" cy="14286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5078" y="7166552"/>
              <a:ext cx="5485714" cy="1428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8151709" y="9801545"/>
            <a:ext cx="142857" cy="479351"/>
            <a:chOff x="18151709" y="9801545"/>
            <a:chExt cx="142857" cy="479351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51709" y="9801545"/>
              <a:ext cx="142857" cy="47935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6185941" y="9660839"/>
            <a:ext cx="1809524" cy="4828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800" dirty="0">
                <a:solidFill>
                  <a:srgbClr val="173460"/>
                </a:solidFill>
                <a:latin typeface="Pretendard SemiBold" pitchFamily="34" charset="0"/>
                <a:cs typeface="Pretendard SemiBold" pitchFamily="34" charset="0"/>
              </a:rPr>
              <a:t>07</a:t>
            </a:r>
            <a:endParaRPr lang="en-US" dirty="0"/>
          </a:p>
        </p:txBody>
      </p:sp>
      <p:sp>
        <p:nvSpPr>
          <p:cNvPr id="19" name="Object 19"/>
          <p:cNvSpPr txBox="1"/>
          <p:nvPr/>
        </p:nvSpPr>
        <p:spPr>
          <a:xfrm>
            <a:off x="12380952" y="449795"/>
            <a:ext cx="5285714" cy="4828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800" dirty="0">
                <a:solidFill>
                  <a:srgbClr val="173460"/>
                </a:solidFill>
                <a:latin typeface="Pretendard SemiBold" pitchFamily="34" charset="0"/>
                <a:cs typeface="Pretendard SemiBold" pitchFamily="34" charset="0"/>
              </a:rPr>
              <a:t>MAJOR SCHEDULE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F9FB80-1C55-F966-6F09-C14090A2D5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797572"/>
            <a:ext cx="17068800" cy="68632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424698" y="-3549262"/>
            <a:ext cx="22740955" cy="22281211"/>
            <a:chOff x="-1424698" y="-3549262"/>
            <a:chExt cx="22740955" cy="22281211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-643689" y="7246334"/>
              <a:ext cx="8432797" cy="7149418"/>
              <a:chOff x="-643689" y="7246334"/>
              <a:chExt cx="8432797" cy="7149418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 rot="5400000">
                <a:off x="-4860087" y="4331571"/>
                <a:ext cx="16865593" cy="14298835"/>
              </a:xfrm>
              <a:prstGeom prst="rect">
                <a:avLst/>
              </a:prstGeom>
            </p:spPr>
          </p:pic>
          <p:pic>
            <p:nvPicPr>
              <p:cNvPr id="5" name="Object 4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 rot="5400000">
                <a:off x="-643689" y="7246334"/>
                <a:ext cx="8432797" cy="7149418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1276121" y="-1449105"/>
              <a:ext cx="17339317" cy="18080898"/>
              <a:chOff x="1276121" y="-1449105"/>
              <a:chExt cx="17339317" cy="18080898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15060000">
                <a:off x="-7393538" y="-9689278"/>
                <a:ext cx="34678634" cy="36161797"/>
              </a:xfrm>
              <a:prstGeom prst="rect">
                <a:avLst/>
              </a:prstGeom>
            </p:spPr>
          </p:pic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 rot="15060000">
                <a:off x="1276121" y="-1449105"/>
                <a:ext cx="17339317" cy="18080898"/>
              </a:xfrm>
              <a:prstGeom prst="rect">
                <a:avLst/>
              </a:prstGeom>
            </p:spPr>
          </p:pic>
        </p:grpSp>
      </p:grpSp>
      <p:grpSp>
        <p:nvGrpSpPr>
          <p:cNvPr id="1004" name="그룹 1004"/>
          <p:cNvGrpSpPr/>
          <p:nvPr/>
        </p:nvGrpSpPr>
        <p:grpSpPr>
          <a:xfrm>
            <a:off x="-19048" y="4989"/>
            <a:ext cx="18315193" cy="190476"/>
            <a:chOff x="-19048" y="4989"/>
            <a:chExt cx="18315193" cy="190476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9048" y="4989"/>
              <a:ext cx="18315193" cy="19047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14286" y="2657143"/>
            <a:ext cx="16065306" cy="6666667"/>
            <a:chOff x="1114286" y="2657143"/>
            <a:chExt cx="16065306" cy="6666667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4286" y="2657143"/>
              <a:ext cx="16065306" cy="6666667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8151709" y="9801545"/>
            <a:ext cx="142857" cy="479351"/>
            <a:chOff x="18151709" y="9801545"/>
            <a:chExt cx="142857" cy="479351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151709" y="9801545"/>
              <a:ext cx="142857" cy="47935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857143" y="2904762"/>
            <a:ext cx="704762" cy="190476"/>
            <a:chOff x="857143" y="2904762"/>
            <a:chExt cx="704762" cy="190476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5400000">
              <a:off x="857143" y="2904762"/>
              <a:ext cx="704762" cy="190476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6185941" y="9660839"/>
            <a:ext cx="1809524" cy="4828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800" dirty="0">
                <a:solidFill>
                  <a:srgbClr val="173460"/>
                </a:solidFill>
                <a:latin typeface="Pretendard SemiBold" pitchFamily="34" charset="0"/>
                <a:cs typeface="Pretendard SemiBold" pitchFamily="34" charset="0"/>
              </a:rPr>
              <a:t>08</a:t>
            </a:r>
            <a:endParaRPr lang="en-US" dirty="0"/>
          </a:p>
        </p:txBody>
      </p:sp>
      <p:sp>
        <p:nvSpPr>
          <p:cNvPr id="25" name="Object 25"/>
          <p:cNvSpPr txBox="1"/>
          <p:nvPr/>
        </p:nvSpPr>
        <p:spPr>
          <a:xfrm>
            <a:off x="13127296" y="449795"/>
            <a:ext cx="4539370" cy="4828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800" dirty="0">
                <a:solidFill>
                  <a:srgbClr val="173460"/>
                </a:solidFill>
                <a:latin typeface="Pretendard SemiBold" pitchFamily="34" charset="0"/>
                <a:cs typeface="Pretendard SemiBold" pitchFamily="34" charset="0"/>
              </a:rPr>
              <a:t>SUMMARY</a:t>
            </a:r>
            <a:endParaRPr lang="en-US" dirty="0"/>
          </a:p>
        </p:txBody>
      </p:sp>
      <p:sp>
        <p:nvSpPr>
          <p:cNvPr id="26" name="Object 26"/>
          <p:cNvSpPr txBox="1"/>
          <p:nvPr/>
        </p:nvSpPr>
        <p:spPr>
          <a:xfrm>
            <a:off x="1111337" y="603625"/>
            <a:ext cx="14567789" cy="21333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8000" kern="0" spc="-100" dirty="0">
                <a:solidFill>
                  <a:srgbClr val="173460"/>
                </a:solidFill>
                <a:latin typeface="Pretendard" pitchFamily="34" charset="0"/>
                <a:cs typeface="Pretendard" pitchFamily="34" charset="0"/>
              </a:rPr>
              <a:t>참고문헌 및 출처</a:t>
            </a:r>
            <a:endParaRPr lang="en-US" dirty="0"/>
          </a:p>
        </p:txBody>
      </p:sp>
      <p:sp>
        <p:nvSpPr>
          <p:cNvPr id="27" name="Object 27"/>
          <p:cNvSpPr txBox="1"/>
          <p:nvPr/>
        </p:nvSpPr>
        <p:spPr>
          <a:xfrm>
            <a:off x="1799466" y="2880000"/>
            <a:ext cx="7228571" cy="72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700" kern="0" spc="-100" dirty="0">
                <a:solidFill>
                  <a:srgbClr val="173460"/>
                </a:solidFill>
                <a:latin typeface="Pretendard Medium" pitchFamily="34" charset="0"/>
                <a:cs typeface="Pretendard Medium" pitchFamily="34" charset="0"/>
              </a:rPr>
              <a:t>개발 기술 : 앱 인벤터, 틴커캐드</a:t>
            </a:r>
            <a:endParaRPr lang="en-US" dirty="0"/>
          </a:p>
        </p:txBody>
      </p:sp>
      <p:sp>
        <p:nvSpPr>
          <p:cNvPr id="28" name="Object 28"/>
          <p:cNvSpPr txBox="1"/>
          <p:nvPr/>
        </p:nvSpPr>
        <p:spPr>
          <a:xfrm>
            <a:off x="1799466" y="3394440"/>
            <a:ext cx="14298836" cy="252376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kern="0" spc="-100" dirty="0">
                <a:solidFill>
                  <a:srgbClr val="173460"/>
                </a:solidFill>
                <a:latin typeface="Pretendard Medium" pitchFamily="34" charset="0"/>
                <a:cs typeface="Pretendard Medium" pitchFamily="34" charset="0"/>
              </a:rPr>
              <a:t>출처 : 유사제품 분석 - https://velog.io/@doodung/smart-window-result</a:t>
            </a:r>
          </a:p>
          <a:p>
            <a:r>
              <a:rPr lang="en-US" sz="2800" kern="0" spc="-100" dirty="0" err="1">
                <a:solidFill>
                  <a:srgbClr val="173460"/>
                </a:solidFill>
                <a:latin typeface="Pretendard Medium" pitchFamily="34" charset="0"/>
                <a:cs typeface="Pretendard Medium" pitchFamily="34" charset="0"/>
              </a:rPr>
              <a:t>시스템</a:t>
            </a:r>
            <a:r>
              <a:rPr lang="en-US" sz="2800" kern="0" spc="-100" dirty="0">
                <a:solidFill>
                  <a:srgbClr val="173460"/>
                </a:solidFill>
                <a:latin typeface="Pretendard Medium" pitchFamily="34" charset="0"/>
                <a:cs typeface="Pretendard Medium" pitchFamily="34" charset="0"/>
              </a:rPr>
              <a:t> </a:t>
            </a:r>
            <a:r>
              <a:rPr lang="en-US" sz="2800" kern="0" spc="-100" dirty="0" err="1">
                <a:solidFill>
                  <a:srgbClr val="173460"/>
                </a:solidFill>
                <a:latin typeface="Pretendard Medium" pitchFamily="34" charset="0"/>
                <a:cs typeface="Pretendard Medium" pitchFamily="34" charset="0"/>
              </a:rPr>
              <a:t>분석</a:t>
            </a:r>
            <a:r>
              <a:rPr lang="en-US" sz="2800" kern="0" spc="-100" dirty="0">
                <a:solidFill>
                  <a:srgbClr val="173460"/>
                </a:solidFill>
                <a:latin typeface="Pretendard Medium" pitchFamily="34" charset="0"/>
                <a:cs typeface="Pretendard Medium" pitchFamily="34" charset="0"/>
              </a:rPr>
              <a:t> -https://capstone.uos.ac.kr/env/index.php/%EC%97%B4%EC%96%B4%EC%A1%B0%EB%8B%AB%EC%95%84%EC%A1%B0</a:t>
            </a:r>
          </a:p>
          <a:p>
            <a:r>
              <a:rPr lang="en-US" sz="2800" kern="0" spc="-100" dirty="0">
                <a:solidFill>
                  <a:srgbClr val="173460"/>
                </a:solidFill>
                <a:latin typeface="Pretendard Medium" pitchFamily="34" charset="0"/>
              </a:rPr>
              <a:t>- http://kpat.kipris.or.kr/kpat/searchLogina.do?next=MainSearch#page1</a:t>
            </a:r>
          </a:p>
          <a:p>
            <a:r>
              <a:rPr lang="en-US" dirty="0"/>
              <a:t>(</a:t>
            </a:r>
            <a:r>
              <a:rPr lang="ko-KR" altLang="en-US" sz="18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특허청 유사제품 사례</a:t>
            </a:r>
            <a:r>
              <a:rPr lang="en-US" altLang="ko-KR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:</a:t>
            </a:r>
            <a:r>
              <a:rPr lang="en-US" altLang="ko-KR" sz="18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 </a:t>
            </a:r>
            <a:r>
              <a:rPr lang="ko-KR" altLang="en-US" sz="18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스마트 창문 제어 및 시스템 방법</a:t>
            </a:r>
            <a:r>
              <a:rPr lang="en-US" altLang="ko-KR" sz="1800" dirty="0">
                <a:solidFill>
                  <a:srgbClr val="173460"/>
                </a:solidFill>
                <a:latin typeface="Abadi" panose="020F0502020204030204" pitchFamily="34" charset="0"/>
                <a:cs typeface="Pretendard Light" pitchFamily="34" charset="0"/>
              </a:rPr>
              <a:t>)</a:t>
            </a:r>
            <a:endParaRPr lang="en-US" altLang="ko-KR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1803</TotalTime>
  <Words>852</Words>
  <Application>Microsoft Office PowerPoint</Application>
  <PresentationFormat>사용자 지정</PresentationFormat>
  <Paragraphs>128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5" baseType="lpstr">
      <vt:lpstr>-apple-system</vt:lpstr>
      <vt:lpstr>Gmarket Sans</vt:lpstr>
      <vt:lpstr>Pretendard</vt:lpstr>
      <vt:lpstr>Pretendard ExtraLight</vt:lpstr>
      <vt:lpstr>Pretendard Medium</vt:lpstr>
      <vt:lpstr>Pretendard SemiBold</vt:lpstr>
      <vt:lpstr>Pretendard Thin</vt:lpstr>
      <vt:lpstr>ui-sans-serif</vt:lpstr>
      <vt:lpstr>함초롬돋움</vt:lpstr>
      <vt:lpstr>Abadi</vt:lpstr>
      <vt:lpstr>Arial</vt:lpstr>
      <vt:lpstr>Calibri</vt:lpstr>
      <vt:lpstr>Helvetica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임채연[컴퓨터시스템공학과]</cp:lastModifiedBy>
  <cp:revision>16</cp:revision>
  <dcterms:created xsi:type="dcterms:W3CDTF">2024-05-07T22:27:53Z</dcterms:created>
  <dcterms:modified xsi:type="dcterms:W3CDTF">2024-05-29T07:20:48Z</dcterms:modified>
</cp:coreProperties>
</file>